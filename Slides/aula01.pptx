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21"/>
  </p:notesMasterIdLst>
  <p:sldIdLst>
    <p:sldId id="256" r:id="rId2"/>
    <p:sldId id="257" r:id="rId3"/>
    <p:sldId id="258" r:id="rId4"/>
    <p:sldId id="263" r:id="rId5"/>
    <p:sldId id="259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61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1C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203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f032c298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3af032c298c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EC8C5255-7FD6-CB02-E391-66AF89945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032c298c_0_60:notes">
            <a:extLst>
              <a:ext uri="{FF2B5EF4-FFF2-40B4-BE49-F238E27FC236}">
                <a16:creationId xmlns:a16="http://schemas.microsoft.com/office/drawing/2014/main" id="{4679753B-E61C-82DA-5E1D-EB4CF4790F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032c298c_0_60:notes">
            <a:extLst>
              <a:ext uri="{FF2B5EF4-FFF2-40B4-BE49-F238E27FC236}">
                <a16:creationId xmlns:a16="http://schemas.microsoft.com/office/drawing/2014/main" id="{C795ADD8-B4D0-5C5E-7BBE-B9B8AC78D1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0460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032c298c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032c298c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5567928B-59FD-0AD9-E669-673ED27E4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032c298c_0_60:notes">
            <a:extLst>
              <a:ext uri="{FF2B5EF4-FFF2-40B4-BE49-F238E27FC236}">
                <a16:creationId xmlns:a16="http://schemas.microsoft.com/office/drawing/2014/main" id="{CB2AADEE-534C-7197-0561-9032C30F59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032c298c_0_60:notes">
            <a:extLst>
              <a:ext uri="{FF2B5EF4-FFF2-40B4-BE49-F238E27FC236}">
                <a16:creationId xmlns:a16="http://schemas.microsoft.com/office/drawing/2014/main" id="{79805584-F4C1-2A33-A612-04C39743DC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6943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63C51BE4-3E80-8FA1-20AA-B93FC471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032c298c_0_60:notes">
            <a:extLst>
              <a:ext uri="{FF2B5EF4-FFF2-40B4-BE49-F238E27FC236}">
                <a16:creationId xmlns:a16="http://schemas.microsoft.com/office/drawing/2014/main" id="{9744A722-DBB7-C48D-E043-4BC3BB114D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032c298c_0_60:notes">
            <a:extLst>
              <a:ext uri="{FF2B5EF4-FFF2-40B4-BE49-F238E27FC236}">
                <a16:creationId xmlns:a16="http://schemas.microsoft.com/office/drawing/2014/main" id="{CC68AD2F-EFD3-BD83-CDE5-A4EDCFE92A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63294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2312B76-35E4-8335-3120-B81A22740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F74E7C8-E6F4-6459-4239-88343C4C1E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AFB2B2F4-6063-7181-787D-972D7CB229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64178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CBF31C7-6F1B-F9D5-BB7D-249C7016C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18569BFE-F9A0-C327-CED4-83287664E4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FCE3A371-0F84-AB8C-244F-9BADAD86BA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2800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58963DA-D938-B36A-F0B0-AA4A9342D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2996B3DC-85D8-0E00-FA91-78B2280D8A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123B7FFA-CF16-50BD-2AB9-67310DB62C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5906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8A50936-CDDC-9CF0-5B60-209AAB6EC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E1594FE2-094F-C91D-5946-D169494D49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6F522A40-348E-3BD8-1D80-706E4486E9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6316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E3C50F2-6D55-81B1-F743-B00515216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12CE56B2-EB67-28D2-4862-444A76245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02BA2ED8-1CDF-F28A-3879-4C5D8E2075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87472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6A7054B-824B-0FF3-AC65-423C0A17B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240CA473-8E38-538E-6150-DD25AC1B01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B580B320-B505-B611-DB78-94433EFD4E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24848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BF0E711-02D8-445C-9876-BB7B192BB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2C51E6A4-CA6F-1149-CFC1-5869B2063F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D52C64ED-1281-02A0-0B98-719BC6267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24144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C670DAA-3270-EDE7-5203-81F62421A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01F0E0D8-F035-228A-7DF7-F3AF78AFB3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B2B9E315-DFC2-74EA-21CF-FD9399F3AE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59982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9FCB022-3305-DC54-A592-A5E05C6C3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FAFF51FD-FB0E-A886-50F6-EBF27A7A5B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C513F376-4705-49DF-5CC0-41E0170BF2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68052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EDA14BE-81BB-CD48-470D-FBE965B60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6CEA2687-B080-50CC-29F6-83535DA6EB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F922C21B-615B-C66E-8420-EF4219E44E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6378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E1415E0-CBEF-8AC7-DD07-D07FD548C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AD7F58A4-B46D-2451-A931-C1C778AAA5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6B53ADE7-22AD-526E-B505-31E19D46A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60903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f032c298c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f032c298c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Sem título-1.jpg"/>
          <p:cNvPicPr preferRelativeResize="0"/>
          <p:nvPr/>
        </p:nvPicPr>
        <p:blipFill rotWithShape="1">
          <a:blip r:embed="rId2">
            <a:alphaModFix/>
          </a:blip>
          <a:srcRect l="11705" t="17901" r="9894" b="15970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4000"/>
              <a:buFont typeface="Impact"/>
              <a:buNone/>
              <a:defRPr sz="4000">
                <a:solidFill>
                  <a:srgbClr val="841C39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" name="Google Shape;14;p2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5388" y="4068275"/>
            <a:ext cx="2172676" cy="8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3600"/>
              <a:buNone/>
              <a:defRPr sz="3600">
                <a:solidFill>
                  <a:srgbClr val="841C3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3600"/>
              <a:buNone/>
              <a:defRPr sz="3600">
                <a:solidFill>
                  <a:srgbClr val="841C3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3600"/>
              <a:buNone/>
              <a:defRPr sz="3600">
                <a:solidFill>
                  <a:srgbClr val="841C3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3600"/>
              <a:buNone/>
              <a:defRPr sz="3600">
                <a:solidFill>
                  <a:srgbClr val="841C3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3600"/>
              <a:buNone/>
              <a:defRPr sz="3600">
                <a:solidFill>
                  <a:srgbClr val="841C3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3600"/>
              <a:buNone/>
              <a:defRPr sz="3600">
                <a:solidFill>
                  <a:srgbClr val="841C3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3600"/>
              <a:buNone/>
              <a:defRPr sz="3600">
                <a:solidFill>
                  <a:srgbClr val="841C3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3600"/>
              <a:buNone/>
              <a:defRPr sz="3600">
                <a:solidFill>
                  <a:srgbClr val="841C3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3600"/>
              <a:buNone/>
              <a:defRPr sz="3600">
                <a:solidFill>
                  <a:srgbClr val="841C39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8" name="Google Shape;18;p3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5388" y="4068275"/>
            <a:ext cx="2172676" cy="8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 title="Sem título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532063" y="-582590"/>
            <a:ext cx="1769851" cy="28339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Char char="●"/>
              <a:defRPr sz="2400">
                <a:solidFill>
                  <a:srgbClr val="3C5258"/>
                </a:solidFill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" name="Google Shape;24;p4" title="Sem título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37998" y="3437502"/>
            <a:ext cx="1311675" cy="21003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5" name="Google Shape;25;p4" title="Logo Libertas 185x7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7" y="4568524"/>
            <a:ext cx="141028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ase Grande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71975" y="525675"/>
            <a:ext cx="5128500" cy="4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4400"/>
              <a:buNone/>
              <a:defRPr sz="4400">
                <a:solidFill>
                  <a:srgbClr val="3C525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800"/>
              <a:buNone/>
              <a:defRPr>
                <a:solidFill>
                  <a:srgbClr val="3C525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800"/>
              <a:buNone/>
              <a:defRPr>
                <a:solidFill>
                  <a:srgbClr val="3C525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800"/>
              <a:buNone/>
              <a:defRPr>
                <a:solidFill>
                  <a:srgbClr val="3C525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800"/>
              <a:buNone/>
              <a:defRPr>
                <a:solidFill>
                  <a:srgbClr val="3C525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800"/>
              <a:buNone/>
              <a:defRPr>
                <a:solidFill>
                  <a:srgbClr val="3C525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800"/>
              <a:buNone/>
              <a:defRPr>
                <a:solidFill>
                  <a:srgbClr val="3C525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800"/>
              <a:buNone/>
              <a:defRPr>
                <a:solidFill>
                  <a:srgbClr val="3C525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800"/>
              <a:buNone/>
              <a:defRPr>
                <a:solidFill>
                  <a:srgbClr val="3C5258"/>
                </a:solidFill>
              </a:defRPr>
            </a:lvl9pPr>
          </a:lstStyle>
          <a:p>
            <a:endParaRPr/>
          </a:p>
        </p:txBody>
      </p:sp>
      <p:pic>
        <p:nvPicPr>
          <p:cNvPr id="28" name="Google Shape;28;p5" title="Sem título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1818" y="0"/>
            <a:ext cx="321218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" title="Logo Libertas 185x7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7" y="4568524"/>
            <a:ext cx="141028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1063425" y="324450"/>
            <a:ext cx="4213800" cy="8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200"/>
              <a:buNone/>
              <a:defRPr sz="2200">
                <a:solidFill>
                  <a:srgbClr val="841C3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9pPr>
          </a:lstStyle>
          <a:p>
            <a:endParaRPr/>
          </a:p>
        </p:txBody>
      </p:sp>
      <p:pic>
        <p:nvPicPr>
          <p:cNvPr id="32" name="Google Shape;32;p6" title="Sem título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" y="1815774"/>
            <a:ext cx="2081851" cy="3333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6" title="Logo Libertas 185x7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6869" y="4576649"/>
            <a:ext cx="141028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1063425" y="1152475"/>
            <a:ext cx="4213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800"/>
              <a:buChar char="●"/>
              <a:defRPr>
                <a:solidFill>
                  <a:srgbClr val="3C5258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Char char="○"/>
              <a:defRPr>
                <a:solidFill>
                  <a:srgbClr val="3C5258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Char char="■"/>
              <a:defRPr>
                <a:solidFill>
                  <a:srgbClr val="3C5258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Char char="●"/>
              <a:defRPr>
                <a:solidFill>
                  <a:srgbClr val="3C5258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Char char="○"/>
              <a:defRPr>
                <a:solidFill>
                  <a:srgbClr val="3C5258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Char char="■"/>
              <a:defRPr>
                <a:solidFill>
                  <a:srgbClr val="3C5258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Char char="●"/>
              <a:defRPr>
                <a:solidFill>
                  <a:srgbClr val="3C5258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Char char="○"/>
              <a:defRPr>
                <a:solidFill>
                  <a:srgbClr val="3C5258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Char char="■"/>
              <a:defRPr>
                <a:solidFill>
                  <a:srgbClr val="3C525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7" name="Google Shape;37;p7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869" y="4576649"/>
            <a:ext cx="141028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7" title="Sem título-1.png"/>
          <p:cNvPicPr preferRelativeResize="0"/>
          <p:nvPr/>
        </p:nvPicPr>
        <p:blipFill rotWithShape="1">
          <a:blip r:embed="rId4">
            <a:alphaModFix/>
          </a:blip>
          <a:srcRect t="7114" r="22779"/>
          <a:stretch/>
        </p:blipFill>
        <p:spPr>
          <a:xfrm>
            <a:off x="6936925" y="0"/>
            <a:ext cx="2207074" cy="425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EMsInIDmnyM?si=Uvnka58E00aACe1W" TargetMode="External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eg"/><Relationship Id="rId5" Type="http://schemas.openxmlformats.org/officeDocument/2006/relationships/hyperlink" Target="https://youtu.be/XFqgvG8VxnI?si=tUOqE3pRqQr-9i0x" TargetMode="External"/><Relationship Id="rId4" Type="http://schemas.openxmlformats.org/officeDocument/2006/relationships/hyperlink" Target="https://youtu.be/dIJCnTrdM0k?si=ct73rQQzU8b6lAqY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ctrTitle"/>
          </p:nvPr>
        </p:nvSpPr>
        <p:spPr>
          <a:xfrm>
            <a:off x="1750650" y="162873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Laboratório de programação</a:t>
            </a:r>
            <a:endParaRPr dirty="0"/>
          </a:p>
        </p:txBody>
      </p:sp>
      <p:sp>
        <p:nvSpPr>
          <p:cNvPr id="44" name="Google Shape;44;p8"/>
          <p:cNvSpPr txBox="1">
            <a:spLocks noGrp="1"/>
          </p:cNvSpPr>
          <p:nvPr>
            <p:ph type="subTitle" idx="1"/>
          </p:nvPr>
        </p:nvSpPr>
        <p:spPr>
          <a:xfrm>
            <a:off x="1181850" y="3148733"/>
            <a:ext cx="6780300" cy="9660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indent="0">
              <a:lnSpc>
                <a:spcPct val="120000"/>
              </a:lnSpc>
            </a:pPr>
            <a:r>
              <a:rPr lang="pt-BR" dirty="0">
                <a:solidFill>
                  <a:srgbClr val="841C39"/>
                </a:solidFill>
              </a:rPr>
              <a:t>Aula 01: Histórico</a:t>
            </a:r>
            <a:br>
              <a:rPr lang="pt-BR" dirty="0">
                <a:solidFill>
                  <a:srgbClr val="841C39"/>
                </a:solidFill>
              </a:rPr>
            </a:br>
            <a:r>
              <a:rPr lang="pt-BR" dirty="0">
                <a:solidFill>
                  <a:srgbClr val="841C39"/>
                </a:solidFill>
              </a:rPr>
              <a:t>Prof. Juliano Caetano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311699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pt-BR" dirty="0"/>
              <a:t>O termo "</a:t>
            </a:r>
            <a:r>
              <a:rPr lang="pt-BR" b="1" dirty="0"/>
              <a:t>computador</a:t>
            </a:r>
            <a:r>
              <a:rPr lang="pt-BR" dirty="0"/>
              <a:t>" deriva do latim </a:t>
            </a:r>
            <a:r>
              <a:rPr lang="pt-BR" i="1" dirty="0" err="1"/>
              <a:t>computare</a:t>
            </a:r>
            <a:r>
              <a:rPr lang="pt-BR" dirty="0"/>
              <a:t> ("calcular" ou "contar")</a:t>
            </a:r>
            <a:br>
              <a:rPr lang="pt-BR" dirty="0"/>
            </a:b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7461584-52A2-0B0D-2D52-AD07AD367588}"/>
              </a:ext>
            </a:extLst>
          </p:cNvPr>
          <p:cNvSpPr txBox="1"/>
          <p:nvPr/>
        </p:nvSpPr>
        <p:spPr>
          <a:xfrm>
            <a:off x="1011836" y="3087974"/>
            <a:ext cx="71203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841C39"/>
                </a:solidFill>
              </a:rPr>
              <a:t>Originalmente, no século XVII, referia-se a </a:t>
            </a:r>
            <a:r>
              <a:rPr lang="pt-BR" b="1" dirty="0">
                <a:solidFill>
                  <a:srgbClr val="841C39"/>
                </a:solidFill>
              </a:rPr>
              <a:t>pessoas</a:t>
            </a:r>
            <a:r>
              <a:rPr lang="pt-BR" dirty="0">
                <a:solidFill>
                  <a:srgbClr val="841C39"/>
                </a:solidFill>
              </a:rPr>
              <a:t> que realizavam cálculos complexos manualmente. Com o avanço tecnológico, o termo passou a designar máquinas eletrônicas programáveis que processam dados, realizam operações lógicas e matemáticas, armazenam informações e automatizam tarefas.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1063425" y="324450"/>
            <a:ext cx="7191158" cy="627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pt-BR" sz="2500" b="1" dirty="0"/>
              <a:t>A necessidade de calcular</a:t>
            </a:r>
            <a:endParaRPr sz="2500"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59C7615-60A7-5260-A723-1C808A5C0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3425" y="1152475"/>
            <a:ext cx="3508575" cy="3416400"/>
          </a:xfrm>
        </p:spPr>
        <p:txBody>
          <a:bodyPr/>
          <a:lstStyle/>
          <a:p>
            <a:pPr marL="114300" indent="0">
              <a:buNone/>
            </a:pPr>
            <a:r>
              <a:rPr lang="pt-BR" b="1" dirty="0">
                <a:solidFill>
                  <a:srgbClr val="841C39"/>
                </a:solidFill>
              </a:rPr>
              <a:t>2400 AC: Ábaco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– Primeira tentativa de se criar um artefato capaz de contar</a:t>
            </a:r>
          </a:p>
          <a:p>
            <a:pPr marL="114300" indent="0">
              <a:buNone/>
            </a:pPr>
            <a:endParaRPr lang="pt-BR" dirty="0"/>
          </a:p>
        </p:txBody>
      </p:sp>
      <p:sp>
        <p:nvSpPr>
          <p:cNvPr id="3" name="Espaço Reservado para Texto 1">
            <a:extLst>
              <a:ext uri="{FF2B5EF4-FFF2-40B4-BE49-F238E27FC236}">
                <a16:creationId xmlns:a16="http://schemas.microsoft.com/office/drawing/2014/main" id="{FB3A7E53-7FCD-3A82-7CD3-2A36C4B7CBF0}"/>
              </a:ext>
            </a:extLst>
          </p:cNvPr>
          <p:cNvSpPr txBox="1">
            <a:spLocks/>
          </p:cNvSpPr>
          <p:nvPr/>
        </p:nvSpPr>
        <p:spPr>
          <a:xfrm>
            <a:off x="4746008" y="1152475"/>
            <a:ext cx="350857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pt-BR" b="1" dirty="0">
                <a:solidFill>
                  <a:srgbClr val="841C39"/>
                </a:solidFill>
              </a:rPr>
              <a:t>1642: Pascalina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– Criada por Blaise Pascal, aos 19 anos. Uma das primeiras máquinas mecânicas de calcular</a:t>
            </a:r>
          </a:p>
          <a:p>
            <a:pPr marL="114300" indent="0">
              <a:buNone/>
            </a:pPr>
            <a:endParaRPr lang="pt-BR" dirty="0"/>
          </a:p>
        </p:txBody>
      </p:sp>
      <p:pic>
        <p:nvPicPr>
          <p:cNvPr id="5" name="Imagem 4" descr="Desenho de personagens&#10;&#10;O conteúdo gerado por IA pode estar incorreto.">
            <a:extLst>
              <a:ext uri="{FF2B5EF4-FFF2-40B4-BE49-F238E27FC236}">
                <a16:creationId xmlns:a16="http://schemas.microsoft.com/office/drawing/2014/main" id="{4C54D22B-3C09-30B0-3CC0-7D8C82C9C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259" y="2498132"/>
            <a:ext cx="2520905" cy="207074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F18D9A8-366B-05AC-6FFD-86F3CC54A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458" y="2860675"/>
            <a:ext cx="2915673" cy="17375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4FE4D022-ABC2-3537-5249-4AA64579E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FAE846-BCA1-6F64-C893-43786DB10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Um computador teórico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0A8A15B-B121-56F8-79AD-189C47350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pt-BR" b="1" dirty="0">
                <a:solidFill>
                  <a:srgbClr val="841C39"/>
                </a:solidFill>
              </a:rPr>
              <a:t>1822: Primeiro computador mecânico</a:t>
            </a:r>
          </a:p>
          <a:p>
            <a:pPr marL="76200" indent="0">
              <a:buNone/>
            </a:pPr>
            <a:r>
              <a:rPr lang="pt-BR" sz="2000" dirty="0">
                <a:solidFill>
                  <a:srgbClr val="841C39"/>
                </a:solidFill>
              </a:rPr>
              <a:t>– Projetado por Charles Babbage mas não terminado</a:t>
            </a:r>
          </a:p>
          <a:p>
            <a:pPr marL="76200" indent="0">
              <a:buNone/>
            </a:pPr>
            <a:r>
              <a:rPr lang="pt-BR" sz="2000" dirty="0">
                <a:solidFill>
                  <a:srgbClr val="841C39"/>
                </a:solidFill>
              </a:rPr>
              <a:t>devido à falta de recursos</a:t>
            </a:r>
          </a:p>
          <a:p>
            <a:pPr marL="76200" indent="0">
              <a:buNone/>
            </a:pPr>
            <a:r>
              <a:rPr lang="pt-BR" sz="2000" dirty="0">
                <a:solidFill>
                  <a:srgbClr val="841C39"/>
                </a:solidFill>
              </a:rPr>
              <a:t>– Posteriormente, o seu projeto foi construído e</a:t>
            </a:r>
          </a:p>
          <a:p>
            <a:pPr marL="76200" indent="0">
              <a:buNone/>
            </a:pPr>
            <a:r>
              <a:rPr lang="pt-BR" sz="2000" dirty="0">
                <a:solidFill>
                  <a:srgbClr val="841C39"/>
                </a:solidFill>
              </a:rPr>
              <a:t>exposto em um museu</a:t>
            </a:r>
          </a:p>
          <a:p>
            <a:pPr marL="76200" indent="0">
              <a:buNone/>
            </a:pPr>
            <a:endParaRPr lang="pt-BR" sz="2000" dirty="0">
              <a:solidFill>
                <a:srgbClr val="841C39"/>
              </a:solidFill>
            </a:endParaRPr>
          </a:p>
        </p:txBody>
      </p:sp>
      <p:pic>
        <p:nvPicPr>
          <p:cNvPr id="5" name="Imagem 4" descr="Uma imagem contendo no interior, mesa, janela, vivendo&#10;&#10;O conteúdo gerado por IA pode estar incorreto.">
            <a:extLst>
              <a:ext uri="{FF2B5EF4-FFF2-40B4-BE49-F238E27FC236}">
                <a16:creationId xmlns:a16="http://schemas.microsoft.com/office/drawing/2014/main" id="{EAB4AFDC-DE68-5334-6A7C-70DFD3CCA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252" y="2968759"/>
            <a:ext cx="3402768" cy="204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721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FFD0F-9B9A-3DED-A977-2D6239BC6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Alan Turing (1912–1954)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E6A7EA-E51E-1920-03F6-92402CC33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L="76200" indent="0">
              <a:buNone/>
            </a:pPr>
            <a:r>
              <a:rPr lang="pt-BR" dirty="0">
                <a:solidFill>
                  <a:srgbClr val="841C39"/>
                </a:solidFill>
              </a:rPr>
              <a:t>Foi um matemático britânico genial, considerado o pai da ciência da computação e da inteligência artificial. Ele lançou bases teóricas para algoritmos com a "Máquina de Turing" e foi crucial na Segunda Guerra Mundial ao decifrar códigos nazistas (Enigma) em </a:t>
            </a:r>
            <a:r>
              <a:rPr lang="pt-BR" dirty="0" err="1">
                <a:solidFill>
                  <a:srgbClr val="841C39"/>
                </a:solidFill>
              </a:rPr>
              <a:t>Bletchley</a:t>
            </a:r>
            <a:r>
              <a:rPr lang="pt-BR" dirty="0">
                <a:solidFill>
                  <a:srgbClr val="841C39"/>
                </a:solidFill>
              </a:rPr>
              <a:t> Park, salvando milhões de vidas. Apesar de herói de guerra, foi perseguido por sua homossexualidade e morreu por suicídio. </a:t>
            </a:r>
          </a:p>
          <a:p>
            <a:pPr marL="76200" indent="0">
              <a:buNone/>
            </a:pPr>
            <a:endParaRPr lang="pt-BR" dirty="0">
              <a:solidFill>
                <a:srgbClr val="841C39"/>
              </a:solidFill>
            </a:endParaRPr>
          </a:p>
          <a:p>
            <a:pPr marL="76200" indent="0">
              <a:buNone/>
            </a:pPr>
            <a:r>
              <a:rPr lang="pt-BR" b="1" dirty="0">
                <a:solidFill>
                  <a:srgbClr val="841C39"/>
                </a:solidFill>
              </a:rPr>
              <a:t>Principais Contribuições e Vida:</a:t>
            </a:r>
          </a:p>
          <a:p>
            <a:pPr marL="76200" indent="0">
              <a:buNone/>
            </a:pPr>
            <a:r>
              <a:rPr lang="pt-BR" dirty="0">
                <a:solidFill>
                  <a:srgbClr val="841C39"/>
                </a:solidFill>
              </a:rPr>
              <a:t>- Fundamentos da Computação: Desenvolveu o conceito teórico da máquina de Turing (1936), que definiu o funcionamento dos computadores modernos.</a:t>
            </a:r>
            <a:br>
              <a:rPr lang="pt-BR" dirty="0">
                <a:solidFill>
                  <a:srgbClr val="841C39"/>
                </a:solidFill>
              </a:rPr>
            </a:br>
            <a:r>
              <a:rPr lang="pt-BR" dirty="0">
                <a:solidFill>
                  <a:srgbClr val="841C39"/>
                </a:solidFill>
              </a:rPr>
              <a:t>- Quebra do Código Enigma: Durante a Segunda Guerra, liderou o desenvolvimento da "Bombe" (ou Bombe eletromecânica), máquina crucial para decifrar as comunicações submarinas nazistas.</a:t>
            </a:r>
          </a:p>
          <a:p>
            <a:pPr marL="76200" indent="0">
              <a:buNone/>
            </a:pPr>
            <a:r>
              <a:rPr lang="pt-BR" dirty="0">
                <a:solidFill>
                  <a:srgbClr val="841C39"/>
                </a:solidFill>
              </a:rPr>
              <a:t>- Inteligência Artificial: Propôs o "Teste de Turing" em 1950, um critério para determinar se uma máquina pode pensar, introduzindo o campo da 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7483A690-557B-6648-8F8B-413D0FE66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D7F99-C2B4-0B58-6EFC-55F763919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Alan Turing (1912–1954)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C658667-DA6A-EDBC-9B81-AC5C192FE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102" y="1152474"/>
            <a:ext cx="5939198" cy="3416401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pt-BR" dirty="0">
                <a:solidFill>
                  <a:srgbClr val="841C3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Biografia em 1 minuto – Canal </a:t>
            </a:r>
            <a:r>
              <a:rPr lang="pt-BR" dirty="0" err="1">
                <a:solidFill>
                  <a:srgbClr val="841C3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History</a:t>
            </a:r>
            <a:endParaRPr lang="pt-BR" dirty="0">
              <a:solidFill>
                <a:srgbClr val="841C39"/>
              </a:solidFill>
            </a:endParaRPr>
          </a:p>
          <a:p>
            <a:pPr marL="76200" indent="0">
              <a:buNone/>
            </a:pPr>
            <a:endParaRPr lang="pt-BR" dirty="0">
              <a:solidFill>
                <a:srgbClr val="841C39"/>
              </a:solidFill>
            </a:endParaRPr>
          </a:p>
          <a:p>
            <a:pPr marL="76200" indent="0">
              <a:buNone/>
            </a:pPr>
            <a:r>
              <a:rPr lang="pt-BR" dirty="0">
                <a:solidFill>
                  <a:srgbClr val="841C39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Trailer</a:t>
            </a:r>
            <a:r>
              <a:rPr lang="pt-BR" dirty="0">
                <a:solidFill>
                  <a:srgbClr val="841C39"/>
                </a:solidFill>
              </a:rPr>
              <a:t> </a:t>
            </a:r>
          </a:p>
          <a:p>
            <a:pPr marL="76200" indent="0">
              <a:buNone/>
            </a:pPr>
            <a:endParaRPr lang="pt-BR" dirty="0">
              <a:solidFill>
                <a:srgbClr val="841C39"/>
              </a:solidFill>
            </a:endParaRPr>
          </a:p>
          <a:p>
            <a:pPr marL="76200" indent="0">
              <a:buNone/>
            </a:pPr>
            <a:r>
              <a:rPr lang="pt-BR" dirty="0">
                <a:solidFill>
                  <a:srgbClr val="841C39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Filme completo</a:t>
            </a:r>
            <a:endParaRPr lang="pt-BR" dirty="0">
              <a:solidFill>
                <a:srgbClr val="841C39"/>
              </a:solidFill>
            </a:endParaRPr>
          </a:p>
        </p:txBody>
      </p:sp>
      <p:pic>
        <p:nvPicPr>
          <p:cNvPr id="4" name="Picture 4" descr="O Jogo da Imitação – Wikipédia, a enciclopédia livre">
            <a:extLst>
              <a:ext uri="{FF2B5EF4-FFF2-40B4-BE49-F238E27FC236}">
                <a16:creationId xmlns:a16="http://schemas.microsoft.com/office/drawing/2014/main" id="{6CF622EA-83D8-843C-34D8-0E62CA47D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00" y="1152475"/>
            <a:ext cx="2323152" cy="341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lan Turing – Wikipédia, a enciclopédia livre">
            <a:extLst>
              <a:ext uri="{FF2B5EF4-FFF2-40B4-BE49-F238E27FC236}">
                <a16:creationId xmlns:a16="http://schemas.microsoft.com/office/drawing/2014/main" id="{CFEC8D11-BFC3-6CAC-C749-90436830F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9469" y="1893603"/>
            <a:ext cx="1572420" cy="2097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0742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32780382-42F0-2639-494F-BA5749150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2981B4-1F63-A92D-2BD8-D950605EB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Primeiros computadores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9A025A8-F6E6-35A7-FA82-1D2601A05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2">
            <a:normAutofit/>
          </a:bodyPr>
          <a:lstStyle/>
          <a:p>
            <a:pPr marL="76200" indent="0">
              <a:buNone/>
            </a:pPr>
            <a:r>
              <a:rPr lang="pt-BR" sz="2000" b="1" dirty="0">
                <a:solidFill>
                  <a:srgbClr val="841C39"/>
                </a:solidFill>
              </a:rPr>
              <a:t>1938: Z1</a:t>
            </a:r>
          </a:p>
          <a:p>
            <a:pPr marL="76200" indent="0">
              <a:buNone/>
            </a:pPr>
            <a:r>
              <a:rPr lang="pt-BR" sz="2000" dirty="0">
                <a:solidFill>
                  <a:srgbClr val="841C39"/>
                </a:solidFill>
              </a:rPr>
              <a:t>– O primeiro computador programável</a:t>
            </a:r>
          </a:p>
          <a:p>
            <a:pPr marL="76200" indent="0">
              <a:buNone/>
            </a:pPr>
            <a:r>
              <a:rPr lang="pt-BR" sz="2000" dirty="0">
                <a:solidFill>
                  <a:srgbClr val="841C39"/>
                </a:solidFill>
              </a:rPr>
              <a:t>– Muito foi perdido por causa da II Guerra</a:t>
            </a:r>
            <a:br>
              <a:rPr lang="pt-BR" sz="2000" dirty="0"/>
            </a:br>
            <a:endParaRPr lang="pt-BR" sz="2000" dirty="0">
              <a:solidFill>
                <a:srgbClr val="841C39"/>
              </a:solidFill>
            </a:endParaRPr>
          </a:p>
        </p:txBody>
      </p:sp>
      <p:pic>
        <p:nvPicPr>
          <p:cNvPr id="5" name="Imagem 4" descr="Uma imagem contendo no interior, mesa, grande, bolo&#10;&#10;O conteúdo gerado por IA pode estar incorreto.">
            <a:extLst>
              <a:ext uri="{FF2B5EF4-FFF2-40B4-BE49-F238E27FC236}">
                <a16:creationId xmlns:a16="http://schemas.microsoft.com/office/drawing/2014/main" id="{F5DD00C4-CA72-0427-5B6A-C158144BE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978" y="2720713"/>
            <a:ext cx="2678032" cy="173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24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33B87F0-1E40-4DF4-FBEE-47408EED2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08EB93A9-043A-6D3C-2F1C-793612E7AF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3425" y="324450"/>
            <a:ext cx="7191158" cy="627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pt-BR" sz="2800" b="1" dirty="0"/>
              <a:t>Primeiros computadores</a:t>
            </a:r>
            <a:endParaRPr sz="2500"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8189868-6518-7B20-530E-75893F69F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3425" y="1152475"/>
            <a:ext cx="3508575" cy="3416400"/>
          </a:xfrm>
        </p:spPr>
        <p:txBody>
          <a:bodyPr/>
          <a:lstStyle/>
          <a:p>
            <a:pPr marL="114300" indent="0">
              <a:buNone/>
            </a:pPr>
            <a:r>
              <a:rPr lang="pt-BR" b="1" dirty="0">
                <a:solidFill>
                  <a:srgbClr val="841C39"/>
                </a:solidFill>
              </a:rPr>
              <a:t>1938: Z1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– O primeiro computador programável. Muito foi perdido por causa da II Guerra</a:t>
            </a:r>
            <a:endParaRPr lang="pt-BR" dirty="0"/>
          </a:p>
        </p:txBody>
      </p:sp>
      <p:sp>
        <p:nvSpPr>
          <p:cNvPr id="3" name="Espaço Reservado para Texto 1">
            <a:extLst>
              <a:ext uri="{FF2B5EF4-FFF2-40B4-BE49-F238E27FC236}">
                <a16:creationId xmlns:a16="http://schemas.microsoft.com/office/drawing/2014/main" id="{6F888CE7-0F04-84CB-1755-7262664BF28A}"/>
              </a:ext>
            </a:extLst>
          </p:cNvPr>
          <p:cNvSpPr txBox="1">
            <a:spLocks/>
          </p:cNvSpPr>
          <p:nvPr/>
        </p:nvSpPr>
        <p:spPr>
          <a:xfrm>
            <a:off x="4746008" y="1152475"/>
            <a:ext cx="350857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pt-BR" b="1" dirty="0">
                <a:solidFill>
                  <a:srgbClr val="841C39"/>
                </a:solidFill>
              </a:rPr>
              <a:t>1943: </a:t>
            </a:r>
            <a:r>
              <a:rPr lang="pt-BR" b="1" dirty="0" err="1">
                <a:solidFill>
                  <a:srgbClr val="841C39"/>
                </a:solidFill>
              </a:rPr>
              <a:t>Colossus</a:t>
            </a:r>
            <a:endParaRPr lang="pt-BR" b="1" dirty="0">
              <a:solidFill>
                <a:srgbClr val="841C39"/>
              </a:solidFill>
            </a:endParaRP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– Usado pelos britânicos para decodificar mensagens alemãs</a:t>
            </a:r>
            <a:endParaRPr lang="pt-BR" dirty="0"/>
          </a:p>
        </p:txBody>
      </p:sp>
      <p:pic>
        <p:nvPicPr>
          <p:cNvPr id="6" name="Imagem 5" descr="Uma imagem contendo no interior, mesa, grande, bolo&#10;&#10;O conteúdo gerado por IA pode estar incorreto.">
            <a:extLst>
              <a:ext uri="{FF2B5EF4-FFF2-40B4-BE49-F238E27FC236}">
                <a16:creationId xmlns:a16="http://schemas.microsoft.com/office/drawing/2014/main" id="{27F9533C-8D60-4975-4B11-A3B4DD051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042" y="2571750"/>
            <a:ext cx="2889340" cy="1876309"/>
          </a:xfrm>
          <a:prstGeom prst="rect">
            <a:avLst/>
          </a:prstGeom>
        </p:spPr>
      </p:pic>
      <p:pic>
        <p:nvPicPr>
          <p:cNvPr id="11" name="Imagem 10" descr="Loja de brinquedos&#10;&#10;O conteúdo gerado por IA pode estar incorreto.">
            <a:extLst>
              <a:ext uri="{FF2B5EF4-FFF2-40B4-BE49-F238E27FC236}">
                <a16:creationId xmlns:a16="http://schemas.microsoft.com/office/drawing/2014/main" id="{75B92BEF-3C5E-0842-3B47-E2C46F957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180" y="2295095"/>
            <a:ext cx="2870618" cy="215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374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3090A76-83BA-423F-B0C8-D7F6AE10E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A02FB2EF-24EF-FC0A-AC21-FC29DAEA23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3425" y="324450"/>
            <a:ext cx="7191158" cy="627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pt-BR" sz="2800" b="1" dirty="0"/>
              <a:t>Primeiros computadores</a:t>
            </a:r>
            <a:endParaRPr sz="2500"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F615F698-C0C6-9325-573C-2414369B7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3425" y="1152475"/>
            <a:ext cx="3508575" cy="3416400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pt-BR" b="1" dirty="0">
                <a:solidFill>
                  <a:srgbClr val="841C39"/>
                </a:solidFill>
              </a:rPr>
              <a:t>1946: ENIAC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– Considerado o primeiro computador eletrônico de propósito geral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– Construído na Universidade da Pensilvânia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– Ocupava uma sala inteira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– Pesava 30 toneladas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– Consumia 200 kw de potência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– Entrada: leitora de cartões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perfurados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– Saída: perfuradora de cartões</a:t>
            </a:r>
            <a:endParaRPr lang="pt-BR" dirty="0"/>
          </a:p>
        </p:txBody>
      </p:sp>
      <p:sp>
        <p:nvSpPr>
          <p:cNvPr id="3" name="Espaço Reservado para Texto 1">
            <a:extLst>
              <a:ext uri="{FF2B5EF4-FFF2-40B4-BE49-F238E27FC236}">
                <a16:creationId xmlns:a16="http://schemas.microsoft.com/office/drawing/2014/main" id="{0F24B20B-DBA0-4E1D-38BF-34D1BDC86738}"/>
              </a:ext>
            </a:extLst>
          </p:cNvPr>
          <p:cNvSpPr txBox="1">
            <a:spLocks/>
          </p:cNvSpPr>
          <p:nvPr/>
        </p:nvSpPr>
        <p:spPr>
          <a:xfrm>
            <a:off x="4746008" y="1152475"/>
            <a:ext cx="350857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1FD46D4-8824-3009-B37C-D5B314035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188" y="1299748"/>
            <a:ext cx="3435403" cy="254987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49F721D-55A0-7B74-5B4A-E11AA6276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260" y="3982322"/>
            <a:ext cx="1891258" cy="50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161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4179419-4818-93DC-7A05-F597F38B6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F0714295-48DD-E5A0-DAFD-2ACD7AC54C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3425" y="324450"/>
            <a:ext cx="7191158" cy="627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pt-BR" sz="2800" b="1" dirty="0"/>
              <a:t>Computadores pessoais</a:t>
            </a:r>
            <a:endParaRPr sz="2500"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EA6BDE62-9E7D-A356-5DB8-3A6B4BD36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3425" y="1152475"/>
            <a:ext cx="3508575" cy="34164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pt-BR" b="1" dirty="0">
                <a:solidFill>
                  <a:srgbClr val="841C39"/>
                </a:solidFill>
              </a:rPr>
              <a:t>1973: Alto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– Primeiro computador pessoal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– Construído pela Xerox, mas nunca produzido em massa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– Já tinha mouse, interface gráfica e sistema operacional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– As características do Alto foram incorporadas no Macintosh</a:t>
            </a:r>
            <a:endParaRPr lang="pt-BR" dirty="0"/>
          </a:p>
        </p:txBody>
      </p:sp>
      <p:sp>
        <p:nvSpPr>
          <p:cNvPr id="3" name="Espaço Reservado para Texto 1">
            <a:extLst>
              <a:ext uri="{FF2B5EF4-FFF2-40B4-BE49-F238E27FC236}">
                <a16:creationId xmlns:a16="http://schemas.microsoft.com/office/drawing/2014/main" id="{A66FF2F3-245E-4E62-5099-A6D7BD5E38BC}"/>
              </a:ext>
            </a:extLst>
          </p:cNvPr>
          <p:cNvSpPr txBox="1">
            <a:spLocks/>
          </p:cNvSpPr>
          <p:nvPr/>
        </p:nvSpPr>
        <p:spPr>
          <a:xfrm>
            <a:off x="4746008" y="1152475"/>
            <a:ext cx="350857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D8CCA62-FB90-26A2-EFB9-4A6B213AE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375" y="757003"/>
            <a:ext cx="1605892" cy="2368446"/>
          </a:xfrm>
          <a:prstGeom prst="rect">
            <a:avLst/>
          </a:prstGeom>
        </p:spPr>
      </p:pic>
      <p:pic>
        <p:nvPicPr>
          <p:cNvPr id="9" name="Imagem 8" descr="Computador antigo em fundo branco&#10;&#10;O conteúdo gerado por IA pode estar incorreto.">
            <a:extLst>
              <a:ext uri="{FF2B5EF4-FFF2-40B4-BE49-F238E27FC236}">
                <a16:creationId xmlns:a16="http://schemas.microsoft.com/office/drawing/2014/main" id="{B8B38EBB-3833-CEB3-39F9-743CF57C3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637" y="3282883"/>
            <a:ext cx="2125661" cy="141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790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59F7663-32EF-99BC-8400-20FE13FC0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8E9AC5FF-69B8-85F2-974E-45AB328BF9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3425" y="324450"/>
            <a:ext cx="7191158" cy="627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pt-BR" sz="2800" b="1" dirty="0"/>
              <a:t>Computadores atuais</a:t>
            </a:r>
            <a:endParaRPr sz="2500"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C5B31EC-E893-6070-C1CD-5273869D1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3425" y="1152475"/>
            <a:ext cx="3508575" cy="34164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-  Computação móvel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  Laptop, Tablet, Celular, relógio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Entrada: teclado, tela, voz, gestos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- Saída: tela, áudio</a:t>
            </a:r>
            <a:endParaRPr lang="pt-BR" dirty="0"/>
          </a:p>
        </p:txBody>
      </p:sp>
      <p:sp>
        <p:nvSpPr>
          <p:cNvPr id="3" name="Espaço Reservado para Texto 1">
            <a:extLst>
              <a:ext uri="{FF2B5EF4-FFF2-40B4-BE49-F238E27FC236}">
                <a16:creationId xmlns:a16="http://schemas.microsoft.com/office/drawing/2014/main" id="{D3BB665B-8D90-AD4E-9576-2C3CEB4F2BCF}"/>
              </a:ext>
            </a:extLst>
          </p:cNvPr>
          <p:cNvSpPr txBox="1">
            <a:spLocks/>
          </p:cNvSpPr>
          <p:nvPr/>
        </p:nvSpPr>
        <p:spPr>
          <a:xfrm>
            <a:off x="4749223" y="1202050"/>
            <a:ext cx="350857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endParaRPr lang="pt-BR" dirty="0"/>
          </a:p>
        </p:txBody>
      </p:sp>
      <p:pic>
        <p:nvPicPr>
          <p:cNvPr id="4098" name="Picture 2" descr="Computador Completo Intel I5 (4a Geração) 8GB SSD 240GB 8 Gb">
            <a:extLst>
              <a:ext uri="{FF2B5EF4-FFF2-40B4-BE49-F238E27FC236}">
                <a16:creationId xmlns:a16="http://schemas.microsoft.com/office/drawing/2014/main" id="{C5FDA7A0-FFA7-59D5-D069-93A8413FB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012" y="574625"/>
            <a:ext cx="1881579" cy="1411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6">
            <a:extLst>
              <a:ext uri="{FF2B5EF4-FFF2-40B4-BE49-F238E27FC236}">
                <a16:creationId xmlns:a16="http://schemas.microsoft.com/office/drawing/2014/main" id="{31AD5C35-C132-DB44-67A7-0B895598BA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4104" name="Picture 8" descr="Mini PC - CSL Narrow Box Premium / Windows 11 Home / 500GB+8GB">
            <a:extLst>
              <a:ext uri="{FF2B5EF4-FFF2-40B4-BE49-F238E27FC236}">
                <a16:creationId xmlns:a16="http://schemas.microsoft.com/office/drawing/2014/main" id="{69D0621B-FC61-0EB3-C840-9F68A76C3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603" y="1280217"/>
            <a:ext cx="1478405" cy="1478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Laptop Deals - Deals">
            <a:extLst>
              <a:ext uri="{FF2B5EF4-FFF2-40B4-BE49-F238E27FC236}">
                <a16:creationId xmlns:a16="http://schemas.microsoft.com/office/drawing/2014/main" id="{BA137046-1CA7-8DE8-9BB4-2B0DD22E1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410" y="2276545"/>
            <a:ext cx="1921182" cy="1126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Tablet Samsung Galaxy Tab S9 FE Caneta S Pen Tela 10.9&quot; 128GB Expansível  Wi-Fi Cinza SM-X510NZADZTO | Oficina dos Bits">
            <a:extLst>
              <a:ext uri="{FF2B5EF4-FFF2-40B4-BE49-F238E27FC236}">
                <a16:creationId xmlns:a16="http://schemas.microsoft.com/office/drawing/2014/main" id="{91EF293C-EAE3-75DE-E5B6-8ABC2505F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447" y="3019352"/>
            <a:ext cx="2416351" cy="125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Smartwatch Relógio Inteligente Haiz My Watch I Fit">
            <a:extLst>
              <a:ext uri="{FF2B5EF4-FFF2-40B4-BE49-F238E27FC236}">
                <a16:creationId xmlns:a16="http://schemas.microsoft.com/office/drawing/2014/main" id="{DABE2A2D-136F-F600-6A30-48B349EE7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123" y="3534470"/>
            <a:ext cx="1305468" cy="1478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 descr="Tela de um aparelho celular&#10;&#10;O conteúdo gerado por IA pode estar incorreto.">
            <a:extLst>
              <a:ext uri="{FF2B5EF4-FFF2-40B4-BE49-F238E27FC236}">
                <a16:creationId xmlns:a16="http://schemas.microsoft.com/office/drawing/2014/main" id="{455FFF77-C9D9-0D46-C97F-79120642A84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3F3F5"/>
              </a:clrFrom>
              <a:clrTo>
                <a:srgbClr val="F3F3F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60476" y="3402767"/>
            <a:ext cx="1909654" cy="112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773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7D2CA49-3A93-3813-99B2-D0977E41A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5225FCD1-CDAD-3638-D3FA-0797A4D236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3425" y="324450"/>
            <a:ext cx="7191158" cy="627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pt-BR" sz="2800" b="1" dirty="0"/>
              <a:t>Hardware vs. Software</a:t>
            </a:r>
            <a:endParaRPr sz="2500"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C572CC6-E0D8-9CED-EF3F-A907D8A53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3425" y="1152475"/>
            <a:ext cx="3508575" cy="3416400"/>
          </a:xfrm>
        </p:spPr>
        <p:txBody>
          <a:bodyPr/>
          <a:lstStyle/>
          <a:p>
            <a:pPr marL="114300" indent="0">
              <a:buNone/>
            </a:pPr>
            <a:r>
              <a:rPr lang="pt-BR" b="1" dirty="0">
                <a:solidFill>
                  <a:srgbClr val="841C39"/>
                </a:solidFill>
              </a:rPr>
              <a:t>Hardware</a:t>
            </a:r>
          </a:p>
          <a:p>
            <a:pPr marL="114300" indent="0">
              <a:buNone/>
            </a:pPr>
            <a:r>
              <a:rPr lang="pt-BR" dirty="0"/>
              <a:t> </a:t>
            </a:r>
            <a:r>
              <a:rPr lang="pt-BR" dirty="0">
                <a:solidFill>
                  <a:srgbClr val="841C39"/>
                </a:solidFill>
              </a:rPr>
              <a:t>- Peças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 - Corpo</a:t>
            </a:r>
          </a:p>
        </p:txBody>
      </p:sp>
      <p:sp>
        <p:nvSpPr>
          <p:cNvPr id="3" name="Espaço Reservado para Texto 1">
            <a:extLst>
              <a:ext uri="{FF2B5EF4-FFF2-40B4-BE49-F238E27FC236}">
                <a16:creationId xmlns:a16="http://schemas.microsoft.com/office/drawing/2014/main" id="{E6CBFAA7-D0D3-3E74-89FD-8B4AED564C04}"/>
              </a:ext>
            </a:extLst>
          </p:cNvPr>
          <p:cNvSpPr txBox="1">
            <a:spLocks/>
          </p:cNvSpPr>
          <p:nvPr/>
        </p:nvSpPr>
        <p:spPr>
          <a:xfrm>
            <a:off x="4746008" y="1152475"/>
            <a:ext cx="350857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pt-BR" b="1" dirty="0" err="1">
                <a:solidFill>
                  <a:srgbClr val="841C39"/>
                </a:solidFill>
              </a:rPr>
              <a:t>Softwate</a:t>
            </a:r>
            <a:endParaRPr lang="pt-BR" b="1" dirty="0">
              <a:solidFill>
                <a:srgbClr val="841C39"/>
              </a:solidFill>
            </a:endParaRP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 - Programas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 - Alma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288CCC7-DEF1-7668-960A-8C47B537B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131" y="2295095"/>
            <a:ext cx="2435532" cy="239020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002CE94-1A6D-3CDF-D71A-50FB4B3343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004" y="2243321"/>
            <a:ext cx="3137295" cy="249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369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B9EC292-A01D-50E8-5316-9FDBC4DEC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2CAD037-C83C-CEDC-AF02-4773397E83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3425" y="324450"/>
            <a:ext cx="7191158" cy="627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pt-BR" sz="2800" b="1" dirty="0"/>
              <a:t>Computadores e programas</a:t>
            </a:r>
            <a:endParaRPr sz="2500"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9AD3AC9-7D84-99A4-D9FC-17C1EFFD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3425" y="1152475"/>
            <a:ext cx="4797729" cy="34164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pt-BR" b="1" dirty="0">
                <a:solidFill>
                  <a:srgbClr val="841C39"/>
                </a:solidFill>
              </a:rPr>
              <a:t>Computador</a:t>
            </a:r>
          </a:p>
          <a:p>
            <a:pPr marL="114300" indent="0">
              <a:buNone/>
            </a:pPr>
            <a:r>
              <a:rPr lang="pt-BR" b="1" dirty="0">
                <a:solidFill>
                  <a:srgbClr val="841C39"/>
                </a:solidFill>
              </a:rPr>
              <a:t>- </a:t>
            </a:r>
            <a:r>
              <a:rPr lang="pt-BR" dirty="0">
                <a:solidFill>
                  <a:srgbClr val="841C39"/>
                </a:solidFill>
              </a:rPr>
              <a:t>Máquina que pode executar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programas</a:t>
            </a:r>
          </a:p>
          <a:p>
            <a:pPr marL="114300" indent="0">
              <a:buNone/>
            </a:pPr>
            <a:r>
              <a:rPr lang="pt-BR" b="1" dirty="0">
                <a:solidFill>
                  <a:srgbClr val="841C39"/>
                </a:solidFill>
              </a:rPr>
              <a:t>Programa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- Sequência bem precisa de passos que um computador deve executar</a:t>
            </a:r>
          </a:p>
          <a:p>
            <a:pPr marL="114300" indent="0">
              <a:buNone/>
            </a:pPr>
            <a:r>
              <a:rPr lang="pt-BR" b="1" dirty="0">
                <a:solidFill>
                  <a:srgbClr val="841C39"/>
                </a:solidFill>
              </a:rPr>
              <a:t>Linguagem de programação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 - Linguagem projetada para produzir programas de computadores</a:t>
            </a:r>
            <a:endParaRPr lang="pt-BR" dirty="0"/>
          </a:p>
        </p:txBody>
      </p:sp>
      <p:sp>
        <p:nvSpPr>
          <p:cNvPr id="3" name="Espaço Reservado para Texto 1">
            <a:extLst>
              <a:ext uri="{FF2B5EF4-FFF2-40B4-BE49-F238E27FC236}">
                <a16:creationId xmlns:a16="http://schemas.microsoft.com/office/drawing/2014/main" id="{6828DE70-08F0-2818-074E-655B27F7B194}"/>
              </a:ext>
            </a:extLst>
          </p:cNvPr>
          <p:cNvSpPr txBox="1">
            <a:spLocks/>
          </p:cNvSpPr>
          <p:nvPr/>
        </p:nvSpPr>
        <p:spPr>
          <a:xfrm>
            <a:off x="4746008" y="1152475"/>
            <a:ext cx="350857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endParaRPr lang="pt-BR" dirty="0"/>
          </a:p>
        </p:txBody>
      </p:sp>
      <p:pic>
        <p:nvPicPr>
          <p:cNvPr id="5122" name="Picture 2" descr="Vetores de Computador desenho animado - Baixe vetores grátis de alta  qualidade do Freepik | Freepik">
            <a:extLst>
              <a:ext uri="{FF2B5EF4-FFF2-40B4-BE49-F238E27FC236}">
                <a16:creationId xmlns:a16="http://schemas.microsoft.com/office/drawing/2014/main" id="{1A937BEA-86D6-9937-2818-8DC72C673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382" y="2652216"/>
            <a:ext cx="2677618" cy="267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omputador De Desenho Animado Engraçado E Sorridente Ilustração Stock -  Ilustração: 2776079">
            <a:extLst>
              <a:ext uri="{FF2B5EF4-FFF2-40B4-BE49-F238E27FC236}">
                <a16:creationId xmlns:a16="http://schemas.microsoft.com/office/drawing/2014/main" id="{329EA320-0360-4073-9DF9-D2F20ADED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0499" y="391516"/>
            <a:ext cx="1918688" cy="1918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3411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3D47C1A-DC07-FC97-6F45-7A82DEB37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FE423DD0-07E3-5116-A3D1-914DB85CC8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3425" y="324450"/>
            <a:ext cx="7191158" cy="627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pt-BR" sz="2800" b="1" dirty="0"/>
              <a:t>O que os computadores entendem?</a:t>
            </a:r>
            <a:endParaRPr sz="2500"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4895036-4149-4AAA-CFEC-D758A0112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3425" y="1152475"/>
            <a:ext cx="6244280" cy="34164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Para que o computador faça o que você quer, </a:t>
            </a:r>
            <a:r>
              <a:rPr lang="pt-BR" b="1" i="1" dirty="0">
                <a:solidFill>
                  <a:srgbClr val="841C39"/>
                </a:solidFill>
              </a:rPr>
              <a:t>é</a:t>
            </a:r>
          </a:p>
          <a:p>
            <a:pPr marL="114300" indent="0">
              <a:buNone/>
            </a:pPr>
            <a:r>
              <a:rPr lang="pt-BR" b="1" i="1" dirty="0">
                <a:solidFill>
                  <a:srgbClr val="841C39"/>
                </a:solidFill>
              </a:rPr>
              <a:t>necessário falar a linguagem dele.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- Qual é a linguagem que o computador fala?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– Bits: 0 (desligado) ou 1 (ligado)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– Bytes: 8 bits em sequência (ex.: 123 = 01111011)</a:t>
            </a:r>
          </a:p>
          <a:p>
            <a:pPr marL="114300" indent="0">
              <a:buNone/>
            </a:pPr>
            <a:r>
              <a:rPr lang="pt-BR" b="1" dirty="0">
                <a:solidFill>
                  <a:srgbClr val="841C39"/>
                </a:solidFill>
              </a:rPr>
              <a:t>Microprocessador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– Move o conteúdo de grupos de bits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– Soma pares de grupos de bits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– Subtrai um grupo de bits de outro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– Compara pares de grupos de bits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7224C1A-64E3-76BA-97A3-81A569F77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631" y="2006575"/>
            <a:ext cx="2235293" cy="110706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BAF96DF-9656-B27F-4BBF-0A293F11B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772" y="3125506"/>
            <a:ext cx="2229152" cy="110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745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EEF3B30-10CA-D202-A5DE-905483617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490A3A54-DC9F-60E9-340B-05DD5EC6D6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3425" y="324450"/>
            <a:ext cx="7191158" cy="627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pt-BR" sz="2800" b="1" dirty="0"/>
              <a:t>Computador requer abstração</a:t>
            </a:r>
            <a:endParaRPr sz="2500"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E5BF6EB7-E567-8FFF-97BE-9A6D05D8D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9860" y="1115000"/>
            <a:ext cx="6244280" cy="34164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“Seu computador cria com sucesso a ilusão de que contém fotografias, cartas, músicas e filmes. Na verdade, ele só contém bits, muitos deles, organizados de maneiras que você não consegue ver. </a:t>
            </a:r>
            <a:r>
              <a:rPr lang="pt-BR" i="1" dirty="0">
                <a:solidFill>
                  <a:srgbClr val="841C39"/>
                </a:solidFill>
              </a:rPr>
              <a:t>Seu computador foi projetado para armazenar apenas bits - todos os arquivos, pastas e diferentes tipos de dados são ilusões criadas por programadores de computador.”</a:t>
            </a:r>
          </a:p>
          <a:p>
            <a:pPr marL="114300" indent="0">
              <a:buNone/>
            </a:pPr>
            <a:endParaRPr lang="pt-BR" dirty="0">
              <a:solidFill>
                <a:srgbClr val="841C39"/>
              </a:solidFill>
            </a:endParaRPr>
          </a:p>
          <a:p>
            <a:pPr marL="114300" indent="0">
              <a:buNone/>
            </a:pPr>
            <a:r>
              <a:rPr lang="en-US" dirty="0">
                <a:solidFill>
                  <a:srgbClr val="841C39"/>
                </a:solidFill>
              </a:rPr>
              <a:t>(Hal Abelson, Ken Ledeen, Harry Lewis, in "Blown to Bits")</a:t>
            </a:r>
            <a:endParaRPr lang="pt-BR" dirty="0">
              <a:solidFill>
                <a:srgbClr val="841C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687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79A536A-251D-7A9D-7585-C5ABD9968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2BF8A90-F74C-5BC0-7EC2-51A284DAB6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3425" y="324450"/>
            <a:ext cx="7191158" cy="627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pt-BR" sz="2800" b="1" dirty="0"/>
              <a:t>Computador requer precisão</a:t>
            </a:r>
            <a:endParaRPr sz="2500"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4BD76FC1-C37F-0381-44CC-0D7C7B1C5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9860" y="1115000"/>
            <a:ext cx="6244280" cy="34164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“Costuma-se dizer que uma pessoa não entende realmente algo até que o ensine a outra pessoa. Na verdade, uma pessoa não entende realmente algo até depois de ensiná-lo a um computador, ou seja, expressá-lo como um algoritmo.”</a:t>
            </a:r>
            <a:endParaRPr lang="pt-BR" i="1" dirty="0">
              <a:solidFill>
                <a:srgbClr val="841C39"/>
              </a:solidFill>
            </a:endParaRPr>
          </a:p>
          <a:p>
            <a:pPr marL="114300" indent="0">
              <a:buNone/>
            </a:pPr>
            <a:endParaRPr lang="pt-BR" dirty="0">
              <a:solidFill>
                <a:srgbClr val="841C39"/>
              </a:solidFill>
            </a:endParaRPr>
          </a:p>
          <a:p>
            <a:pPr marL="114300" indent="0">
              <a:buNone/>
            </a:pPr>
            <a:r>
              <a:rPr lang="en-US" dirty="0">
                <a:solidFill>
                  <a:srgbClr val="841C39"/>
                </a:solidFill>
              </a:rPr>
              <a:t>(Donald Knuth, in "American Mathematical Monthly," 81)</a:t>
            </a:r>
            <a:endParaRPr lang="pt-BR" dirty="0">
              <a:solidFill>
                <a:srgbClr val="841C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826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31CBF7E-E33C-8442-E437-D8691BEE2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2A6892C5-4A2B-51F2-3198-5ECEE39D2E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3425" y="324450"/>
            <a:ext cx="7191158" cy="627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pt-BR" sz="2800" b="1" dirty="0"/>
              <a:t>Linguagens de montagem (Assembly)</a:t>
            </a:r>
            <a:endParaRPr sz="2500"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BB321CF-B3DA-0524-EA1D-FD06E869D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9860" y="1115000"/>
            <a:ext cx="3984074" cy="34164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- Usa símbolos mais amigáveis aos seres humanos para representar as instruções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- A memória do computador e os registradores também recebem nomes simbólicos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- Não são bits, mas ainda requerem um nível de </a:t>
            </a:r>
          </a:p>
          <a:p>
            <a:pPr marL="114300" indent="0">
              <a:buNone/>
            </a:pPr>
            <a:r>
              <a:rPr lang="pt-BR" dirty="0">
                <a:solidFill>
                  <a:srgbClr val="841C39"/>
                </a:solidFill>
              </a:rPr>
              <a:t>detalhe muito próximo ao que a máquina de fato faz.</a:t>
            </a:r>
          </a:p>
        </p:txBody>
      </p:sp>
      <p:sp>
        <p:nvSpPr>
          <p:cNvPr id="4" name="Espaço Reservado para Texto 1">
            <a:extLst>
              <a:ext uri="{FF2B5EF4-FFF2-40B4-BE49-F238E27FC236}">
                <a16:creationId xmlns:a16="http://schemas.microsoft.com/office/drawing/2014/main" id="{D980DFF8-92BA-B92F-BFE2-BED7BA34A3C5}"/>
              </a:ext>
            </a:extLst>
          </p:cNvPr>
          <p:cNvSpPr txBox="1">
            <a:spLocks/>
          </p:cNvSpPr>
          <p:nvPr/>
        </p:nvSpPr>
        <p:spPr>
          <a:xfrm>
            <a:off x="6108492" y="1836295"/>
            <a:ext cx="2146091" cy="3129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pt-BR" sz="1100" dirty="0" err="1">
                <a:solidFill>
                  <a:srgbClr val="841C39"/>
                </a:solidFill>
              </a:rPr>
              <a:t>main</a:t>
            </a:r>
            <a:r>
              <a:rPr lang="pt-BR" sz="1100" dirty="0">
                <a:solidFill>
                  <a:srgbClr val="841C39"/>
                </a:solidFill>
              </a:rPr>
              <a:t> PROC</a:t>
            </a:r>
          </a:p>
          <a:p>
            <a:pPr marL="571500" lvl="1" indent="0">
              <a:buNone/>
            </a:pPr>
            <a:r>
              <a:rPr lang="pt-BR" sz="1100" dirty="0" err="1">
                <a:solidFill>
                  <a:srgbClr val="841C39"/>
                </a:solidFill>
              </a:rPr>
              <a:t>mov</a:t>
            </a:r>
            <a:r>
              <a:rPr lang="pt-BR" sz="1100" dirty="0">
                <a:solidFill>
                  <a:srgbClr val="841C39"/>
                </a:solidFill>
              </a:rPr>
              <a:t> </a:t>
            </a:r>
            <a:r>
              <a:rPr lang="pt-BR" sz="1100" dirty="0" err="1">
                <a:solidFill>
                  <a:srgbClr val="841C39"/>
                </a:solidFill>
              </a:rPr>
              <a:t>eax</a:t>
            </a:r>
            <a:r>
              <a:rPr lang="pt-BR" sz="1100" dirty="0">
                <a:solidFill>
                  <a:srgbClr val="841C39"/>
                </a:solidFill>
              </a:rPr>
              <a:t>, offset x</a:t>
            </a:r>
          </a:p>
          <a:p>
            <a:pPr marL="571500" lvl="1" indent="0">
              <a:buNone/>
            </a:pPr>
            <a:r>
              <a:rPr lang="pt-BR" sz="1100" dirty="0" err="1">
                <a:solidFill>
                  <a:srgbClr val="841C39"/>
                </a:solidFill>
              </a:rPr>
              <a:t>push</a:t>
            </a:r>
            <a:r>
              <a:rPr lang="pt-BR" sz="1100" dirty="0">
                <a:solidFill>
                  <a:srgbClr val="841C39"/>
                </a:solidFill>
              </a:rPr>
              <a:t> </a:t>
            </a:r>
            <a:r>
              <a:rPr lang="pt-BR" sz="1100" dirty="0" err="1">
                <a:solidFill>
                  <a:srgbClr val="841C39"/>
                </a:solidFill>
              </a:rPr>
              <a:t>eax</a:t>
            </a:r>
            <a:endParaRPr lang="pt-BR" sz="1100" dirty="0">
              <a:solidFill>
                <a:srgbClr val="841C39"/>
              </a:solidFill>
            </a:endParaRPr>
          </a:p>
          <a:p>
            <a:pPr marL="571500" lvl="1" indent="0">
              <a:buNone/>
            </a:pPr>
            <a:r>
              <a:rPr lang="pt-BR" sz="1100" dirty="0" err="1">
                <a:solidFill>
                  <a:srgbClr val="841C39"/>
                </a:solidFill>
              </a:rPr>
              <a:t>mov</a:t>
            </a:r>
            <a:r>
              <a:rPr lang="pt-BR" sz="1100" dirty="0">
                <a:solidFill>
                  <a:srgbClr val="841C39"/>
                </a:solidFill>
              </a:rPr>
              <a:t> </a:t>
            </a:r>
            <a:r>
              <a:rPr lang="pt-BR" sz="1100" dirty="0" err="1">
                <a:solidFill>
                  <a:srgbClr val="841C39"/>
                </a:solidFill>
              </a:rPr>
              <a:t>eax</a:t>
            </a:r>
            <a:r>
              <a:rPr lang="pt-BR" sz="1100" dirty="0">
                <a:solidFill>
                  <a:srgbClr val="841C39"/>
                </a:solidFill>
              </a:rPr>
              <a:t>, 17</a:t>
            </a:r>
          </a:p>
          <a:p>
            <a:pPr marL="571500" lvl="1" indent="0">
              <a:buNone/>
            </a:pPr>
            <a:r>
              <a:rPr lang="pt-BR" sz="1100" dirty="0" err="1">
                <a:solidFill>
                  <a:srgbClr val="841C39"/>
                </a:solidFill>
              </a:rPr>
              <a:t>push</a:t>
            </a:r>
            <a:r>
              <a:rPr lang="pt-BR" sz="1100" dirty="0">
                <a:solidFill>
                  <a:srgbClr val="841C39"/>
                </a:solidFill>
              </a:rPr>
              <a:t> </a:t>
            </a:r>
            <a:r>
              <a:rPr lang="pt-BR" sz="1100" dirty="0" err="1">
                <a:solidFill>
                  <a:srgbClr val="841C39"/>
                </a:solidFill>
              </a:rPr>
              <a:t>eax</a:t>
            </a:r>
            <a:endParaRPr lang="pt-BR" sz="1100" dirty="0">
              <a:solidFill>
                <a:srgbClr val="841C39"/>
              </a:solidFill>
            </a:endParaRPr>
          </a:p>
          <a:p>
            <a:pPr marL="571500" lvl="1" indent="0">
              <a:buNone/>
            </a:pPr>
            <a:r>
              <a:rPr lang="pt-BR" sz="1100" dirty="0" err="1">
                <a:solidFill>
                  <a:srgbClr val="841C39"/>
                </a:solidFill>
              </a:rPr>
              <a:t>mov</a:t>
            </a:r>
            <a:r>
              <a:rPr lang="pt-BR" sz="1100" dirty="0">
                <a:solidFill>
                  <a:srgbClr val="841C39"/>
                </a:solidFill>
              </a:rPr>
              <a:t> </a:t>
            </a:r>
            <a:r>
              <a:rPr lang="pt-BR" sz="1100" dirty="0" err="1">
                <a:solidFill>
                  <a:srgbClr val="841C39"/>
                </a:solidFill>
              </a:rPr>
              <a:t>eax</a:t>
            </a:r>
            <a:r>
              <a:rPr lang="pt-BR" sz="1100" dirty="0">
                <a:solidFill>
                  <a:srgbClr val="841C39"/>
                </a:solidFill>
              </a:rPr>
              <a:t>, 5</a:t>
            </a:r>
          </a:p>
          <a:p>
            <a:pPr marL="571500" lvl="1" indent="0">
              <a:buNone/>
            </a:pPr>
            <a:r>
              <a:rPr lang="pt-BR" sz="1100" dirty="0" err="1">
                <a:solidFill>
                  <a:srgbClr val="841C39"/>
                </a:solidFill>
              </a:rPr>
              <a:t>push</a:t>
            </a:r>
            <a:r>
              <a:rPr lang="pt-BR" sz="1100" dirty="0">
                <a:solidFill>
                  <a:srgbClr val="841C39"/>
                </a:solidFill>
              </a:rPr>
              <a:t> </a:t>
            </a:r>
            <a:r>
              <a:rPr lang="pt-BR" sz="1100" dirty="0" err="1">
                <a:solidFill>
                  <a:srgbClr val="841C39"/>
                </a:solidFill>
              </a:rPr>
              <a:t>eax</a:t>
            </a:r>
            <a:endParaRPr lang="pt-BR" sz="1100" dirty="0">
              <a:solidFill>
                <a:srgbClr val="841C39"/>
              </a:solidFill>
            </a:endParaRPr>
          </a:p>
          <a:p>
            <a:pPr marL="571500" lvl="1" indent="0">
              <a:buNone/>
            </a:pPr>
            <a:r>
              <a:rPr lang="pt-BR" sz="1100" dirty="0">
                <a:solidFill>
                  <a:srgbClr val="841C39"/>
                </a:solidFill>
              </a:rPr>
              <a:t>pop </a:t>
            </a:r>
            <a:r>
              <a:rPr lang="pt-BR" sz="1100" dirty="0" err="1">
                <a:solidFill>
                  <a:srgbClr val="841C39"/>
                </a:solidFill>
              </a:rPr>
              <a:t>ebx</a:t>
            </a:r>
            <a:endParaRPr lang="pt-BR" sz="1100" dirty="0">
              <a:solidFill>
                <a:srgbClr val="841C39"/>
              </a:solidFill>
            </a:endParaRPr>
          </a:p>
          <a:p>
            <a:pPr marL="571500" lvl="1" indent="0">
              <a:buNone/>
            </a:pPr>
            <a:r>
              <a:rPr lang="pt-BR" sz="1100" dirty="0">
                <a:solidFill>
                  <a:srgbClr val="841C39"/>
                </a:solidFill>
              </a:rPr>
              <a:t>pop </a:t>
            </a:r>
            <a:r>
              <a:rPr lang="pt-BR" sz="1100" dirty="0" err="1">
                <a:solidFill>
                  <a:srgbClr val="841C39"/>
                </a:solidFill>
              </a:rPr>
              <a:t>eax</a:t>
            </a:r>
            <a:endParaRPr lang="pt-BR" sz="1100" dirty="0">
              <a:solidFill>
                <a:srgbClr val="841C39"/>
              </a:solidFill>
            </a:endParaRPr>
          </a:p>
          <a:p>
            <a:pPr marL="571500" lvl="1" indent="0">
              <a:buNone/>
            </a:pPr>
            <a:r>
              <a:rPr lang="pt-BR" sz="1100" dirty="0" err="1">
                <a:solidFill>
                  <a:srgbClr val="841C39"/>
                </a:solidFill>
              </a:rPr>
              <a:t>add</a:t>
            </a:r>
            <a:r>
              <a:rPr lang="pt-BR" sz="1100" dirty="0">
                <a:solidFill>
                  <a:srgbClr val="841C39"/>
                </a:solidFill>
              </a:rPr>
              <a:t> </a:t>
            </a:r>
            <a:r>
              <a:rPr lang="pt-BR" sz="1100" dirty="0" err="1">
                <a:solidFill>
                  <a:srgbClr val="841C39"/>
                </a:solidFill>
              </a:rPr>
              <a:t>eax</a:t>
            </a:r>
            <a:r>
              <a:rPr lang="pt-BR" sz="1100" dirty="0">
                <a:solidFill>
                  <a:srgbClr val="841C39"/>
                </a:solidFill>
              </a:rPr>
              <a:t>, </a:t>
            </a:r>
            <a:r>
              <a:rPr lang="pt-BR" sz="1100" dirty="0" err="1">
                <a:solidFill>
                  <a:srgbClr val="841C39"/>
                </a:solidFill>
              </a:rPr>
              <a:t>ebx</a:t>
            </a:r>
            <a:endParaRPr lang="pt-BR" sz="1100" dirty="0">
              <a:solidFill>
                <a:srgbClr val="841C39"/>
              </a:solidFill>
            </a:endParaRPr>
          </a:p>
          <a:p>
            <a:pPr marL="571500" lvl="1" indent="0">
              <a:buNone/>
            </a:pPr>
            <a:r>
              <a:rPr lang="pt-BR" sz="1100" dirty="0" err="1">
                <a:solidFill>
                  <a:srgbClr val="841C39"/>
                </a:solidFill>
              </a:rPr>
              <a:t>push</a:t>
            </a:r>
            <a:r>
              <a:rPr lang="pt-BR" sz="1100" dirty="0">
                <a:solidFill>
                  <a:srgbClr val="841C39"/>
                </a:solidFill>
              </a:rPr>
              <a:t> </a:t>
            </a:r>
            <a:r>
              <a:rPr lang="pt-BR" sz="1100" dirty="0" err="1">
                <a:solidFill>
                  <a:srgbClr val="841C39"/>
                </a:solidFill>
              </a:rPr>
              <a:t>eax</a:t>
            </a:r>
            <a:endParaRPr lang="pt-BR" sz="1100" dirty="0">
              <a:solidFill>
                <a:srgbClr val="841C39"/>
              </a:solidFill>
            </a:endParaRPr>
          </a:p>
          <a:p>
            <a:pPr marL="571500" lvl="1" indent="0">
              <a:buNone/>
            </a:pPr>
            <a:r>
              <a:rPr lang="pt-BR" sz="1100" dirty="0">
                <a:solidFill>
                  <a:srgbClr val="841C39"/>
                </a:solidFill>
              </a:rPr>
              <a:t>pop </a:t>
            </a:r>
            <a:r>
              <a:rPr lang="pt-BR" sz="1100" dirty="0" err="1">
                <a:solidFill>
                  <a:srgbClr val="841C39"/>
                </a:solidFill>
              </a:rPr>
              <a:t>eax</a:t>
            </a:r>
            <a:endParaRPr lang="pt-BR" sz="1100" dirty="0">
              <a:solidFill>
                <a:srgbClr val="841C39"/>
              </a:solidFill>
            </a:endParaRPr>
          </a:p>
          <a:p>
            <a:pPr marL="571500" lvl="1" indent="0">
              <a:buNone/>
            </a:pPr>
            <a:r>
              <a:rPr lang="pt-BR" sz="1100" dirty="0">
                <a:solidFill>
                  <a:srgbClr val="841C39"/>
                </a:solidFill>
              </a:rPr>
              <a:t>pop </a:t>
            </a:r>
            <a:r>
              <a:rPr lang="pt-BR" sz="1100" dirty="0" err="1">
                <a:solidFill>
                  <a:srgbClr val="841C39"/>
                </a:solidFill>
              </a:rPr>
              <a:t>ebx</a:t>
            </a:r>
            <a:endParaRPr lang="pt-BR" sz="1100" dirty="0">
              <a:solidFill>
                <a:srgbClr val="841C39"/>
              </a:solidFill>
            </a:endParaRPr>
          </a:p>
          <a:p>
            <a:pPr marL="571500" lvl="1" indent="0">
              <a:buNone/>
            </a:pPr>
            <a:r>
              <a:rPr lang="pt-BR" sz="1100" dirty="0" err="1">
                <a:solidFill>
                  <a:srgbClr val="841C39"/>
                </a:solidFill>
              </a:rPr>
              <a:t>mov</a:t>
            </a:r>
            <a:r>
              <a:rPr lang="pt-BR" sz="1100" dirty="0">
                <a:solidFill>
                  <a:srgbClr val="841C39"/>
                </a:solidFill>
              </a:rPr>
              <a:t> [</a:t>
            </a:r>
            <a:r>
              <a:rPr lang="pt-BR" sz="1100" dirty="0" err="1">
                <a:solidFill>
                  <a:srgbClr val="841C39"/>
                </a:solidFill>
              </a:rPr>
              <a:t>ebx</a:t>
            </a:r>
            <a:r>
              <a:rPr lang="pt-BR" sz="1100" dirty="0">
                <a:solidFill>
                  <a:srgbClr val="841C39"/>
                </a:solidFill>
              </a:rPr>
              <a:t>], </a:t>
            </a:r>
            <a:r>
              <a:rPr lang="pt-BR" sz="1100" dirty="0" err="1">
                <a:solidFill>
                  <a:srgbClr val="841C39"/>
                </a:solidFill>
              </a:rPr>
              <a:t>eax</a:t>
            </a:r>
            <a:endParaRPr lang="pt-BR" sz="1100" dirty="0">
              <a:solidFill>
                <a:srgbClr val="841C39"/>
              </a:solidFill>
            </a:endParaRPr>
          </a:p>
          <a:p>
            <a:pPr marL="571500" lvl="1" indent="0">
              <a:buNone/>
            </a:pPr>
            <a:r>
              <a:rPr lang="pt-BR" sz="1100" dirty="0" err="1">
                <a:solidFill>
                  <a:srgbClr val="841C39"/>
                </a:solidFill>
              </a:rPr>
              <a:t>call</a:t>
            </a:r>
            <a:r>
              <a:rPr lang="pt-BR" sz="1100" dirty="0">
                <a:solidFill>
                  <a:srgbClr val="841C39"/>
                </a:solidFill>
              </a:rPr>
              <a:t> </a:t>
            </a:r>
            <a:r>
              <a:rPr lang="pt-BR" sz="1100" dirty="0" err="1">
                <a:solidFill>
                  <a:srgbClr val="841C39"/>
                </a:solidFill>
              </a:rPr>
              <a:t>writeint</a:t>
            </a:r>
            <a:endParaRPr lang="pt-BR" sz="1100" dirty="0">
              <a:solidFill>
                <a:srgbClr val="841C39"/>
              </a:solidFill>
            </a:endParaRPr>
          </a:p>
          <a:p>
            <a:pPr marL="571500" lvl="1" indent="0">
              <a:buNone/>
            </a:pPr>
            <a:r>
              <a:rPr lang="pt-BR" sz="1100" dirty="0" err="1">
                <a:solidFill>
                  <a:srgbClr val="841C39"/>
                </a:solidFill>
              </a:rPr>
              <a:t>call</a:t>
            </a:r>
            <a:r>
              <a:rPr lang="pt-BR" sz="1100" dirty="0">
                <a:solidFill>
                  <a:srgbClr val="841C39"/>
                </a:solidFill>
              </a:rPr>
              <a:t> </a:t>
            </a:r>
            <a:r>
              <a:rPr lang="pt-BR" sz="1100" dirty="0" err="1">
                <a:solidFill>
                  <a:srgbClr val="841C39"/>
                </a:solidFill>
              </a:rPr>
              <a:t>crlf</a:t>
            </a:r>
            <a:endParaRPr lang="pt-BR" sz="1100" dirty="0">
              <a:solidFill>
                <a:srgbClr val="841C39"/>
              </a:solidFill>
            </a:endParaRPr>
          </a:p>
          <a:p>
            <a:pPr marL="571500" lvl="1" indent="0">
              <a:buNone/>
            </a:pPr>
            <a:r>
              <a:rPr lang="pt-BR" sz="1100" dirty="0" err="1">
                <a:solidFill>
                  <a:srgbClr val="841C39"/>
                </a:solidFill>
              </a:rPr>
              <a:t>exit</a:t>
            </a:r>
            <a:endParaRPr lang="pt-BR" sz="1100" dirty="0">
              <a:solidFill>
                <a:srgbClr val="841C39"/>
              </a:solidFill>
            </a:endParaRPr>
          </a:p>
          <a:p>
            <a:pPr marL="114300" indent="0">
              <a:buFont typeface="Arial"/>
              <a:buNone/>
            </a:pPr>
            <a:r>
              <a:rPr lang="pt-BR" sz="1100" dirty="0" err="1">
                <a:solidFill>
                  <a:srgbClr val="841C39"/>
                </a:solidFill>
              </a:rPr>
              <a:t>main</a:t>
            </a:r>
            <a:r>
              <a:rPr lang="pt-BR" sz="1100" dirty="0">
                <a:solidFill>
                  <a:srgbClr val="841C39"/>
                </a:solidFill>
              </a:rPr>
              <a:t> ENDP</a:t>
            </a:r>
          </a:p>
          <a:p>
            <a:pPr marL="114300" indent="0">
              <a:buFont typeface="Arial"/>
              <a:buNone/>
            </a:pPr>
            <a:r>
              <a:rPr lang="pt-BR" sz="1100" dirty="0">
                <a:solidFill>
                  <a:srgbClr val="841C39"/>
                </a:solidFill>
              </a:rPr>
              <a:t>END </a:t>
            </a:r>
            <a:r>
              <a:rPr lang="pt-BR" sz="1100" dirty="0" err="1">
                <a:solidFill>
                  <a:srgbClr val="841C39"/>
                </a:solidFill>
              </a:rPr>
              <a:t>main</a:t>
            </a:r>
            <a:endParaRPr lang="pt-BR" sz="1100" dirty="0">
              <a:solidFill>
                <a:srgbClr val="841C39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07F78CF-E645-F59B-7FE1-CAB0D46FA6AC}"/>
              </a:ext>
            </a:extLst>
          </p:cNvPr>
          <p:cNvSpPr txBox="1"/>
          <p:nvPr/>
        </p:nvSpPr>
        <p:spPr>
          <a:xfrm>
            <a:off x="6108492" y="1199213"/>
            <a:ext cx="23936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841C39"/>
                </a:solidFill>
              </a:rPr>
              <a:t>Assembly – Soma de dois</a:t>
            </a:r>
          </a:p>
          <a:p>
            <a:r>
              <a:rPr lang="pt-BR" b="1" dirty="0">
                <a:solidFill>
                  <a:srgbClr val="841C39"/>
                </a:solidFill>
              </a:rPr>
              <a:t>números (17 e 5)</a:t>
            </a:r>
            <a:endParaRPr lang="pt-BR" dirty="0">
              <a:solidFill>
                <a:srgbClr val="841C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750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1692A99-B1B1-2887-A784-9CD94F52D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BF7E30F8-71B8-B6BA-DF57-36D540AFA3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3425" y="324450"/>
            <a:ext cx="7191158" cy="627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sz="2800" b="1" dirty="0"/>
              <a:t>Linguagens de programação de alto nível</a:t>
            </a:r>
            <a:endParaRPr sz="2500"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01DF0F2B-3586-EAD9-FFC3-B141242F7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9860" y="1115000"/>
            <a:ext cx="6195124" cy="3416400"/>
          </a:xfrm>
        </p:spPr>
        <p:txBody>
          <a:bodyPr>
            <a:normAutofit fontScale="92500"/>
          </a:bodyPr>
          <a:lstStyle/>
          <a:p>
            <a:pPr marL="114300" indent="0">
              <a:buNone/>
            </a:pPr>
            <a:r>
              <a:rPr lang="pt-BR" sz="2400" dirty="0">
                <a:solidFill>
                  <a:srgbClr val="841C39"/>
                </a:solidFill>
              </a:rPr>
              <a:t>- Bem próximas da linguagem humana</a:t>
            </a:r>
          </a:p>
          <a:p>
            <a:pPr marL="114300" indent="0">
              <a:buNone/>
            </a:pPr>
            <a:r>
              <a:rPr lang="pt-BR" sz="2400" dirty="0">
                <a:solidFill>
                  <a:srgbClr val="841C39"/>
                </a:solidFill>
              </a:rPr>
              <a:t>- O programador pode se concentrar </a:t>
            </a:r>
            <a:r>
              <a:rPr lang="pt-BR" sz="2400" b="1" dirty="0">
                <a:solidFill>
                  <a:srgbClr val="841C39"/>
                </a:solidFill>
              </a:rPr>
              <a:t>no que ele quer que o computador faça</a:t>
            </a:r>
            <a:r>
              <a:rPr lang="pt-BR" sz="2400" dirty="0">
                <a:solidFill>
                  <a:srgbClr val="841C39"/>
                </a:solidFill>
              </a:rPr>
              <a:t>, ao invés de ter que detalhar </a:t>
            </a:r>
            <a:r>
              <a:rPr lang="pt-BR" sz="2400" b="1" dirty="0">
                <a:solidFill>
                  <a:srgbClr val="841C39"/>
                </a:solidFill>
              </a:rPr>
              <a:t>como o computador executará cada instrução.</a:t>
            </a:r>
          </a:p>
          <a:p>
            <a:pPr marL="114300" indent="0">
              <a:buNone/>
            </a:pPr>
            <a:r>
              <a:rPr lang="pt-BR" sz="2400" dirty="0">
                <a:solidFill>
                  <a:srgbClr val="841C39"/>
                </a:solidFill>
              </a:rPr>
              <a:t>- Um outro programa (compilador/interpretador)</a:t>
            </a:r>
          </a:p>
          <a:p>
            <a:pPr marL="114300" indent="0">
              <a:buNone/>
            </a:pPr>
            <a:r>
              <a:rPr lang="pt-BR" sz="2400" dirty="0">
                <a:solidFill>
                  <a:srgbClr val="841C39"/>
                </a:solidFill>
              </a:rPr>
              <a:t>se encarregará de traduzir seu programa para a linguagem de máquina</a:t>
            </a:r>
          </a:p>
        </p:txBody>
      </p:sp>
    </p:spTree>
    <p:extLst>
      <p:ext uri="{BB962C8B-B14F-4D97-AF65-F5344CB8AC3E}">
        <p14:creationId xmlns:p14="http://schemas.microsoft.com/office/powerpoint/2010/main" val="198125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0DC55E6-FC77-0AFD-0449-663440329496}"/>
              </a:ext>
            </a:extLst>
          </p:cNvPr>
          <p:cNvSpPr txBox="1"/>
          <p:nvPr/>
        </p:nvSpPr>
        <p:spPr>
          <a:xfrm>
            <a:off x="839449" y="337279"/>
            <a:ext cx="60185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841C39"/>
                </a:solidFill>
              </a:rPr>
              <a:t>Referência:</a:t>
            </a:r>
          </a:p>
          <a:p>
            <a:br>
              <a:rPr lang="pt-BR" dirty="0">
                <a:solidFill>
                  <a:srgbClr val="841C39"/>
                </a:solidFill>
              </a:rPr>
            </a:br>
            <a:r>
              <a:rPr lang="pt-BR" dirty="0">
                <a:solidFill>
                  <a:srgbClr val="841C39"/>
                </a:solidFill>
              </a:rPr>
              <a:t>PDF: </a:t>
            </a:r>
          </a:p>
          <a:p>
            <a:r>
              <a:rPr lang="pt-BR" dirty="0">
                <a:solidFill>
                  <a:srgbClr val="841C39"/>
                </a:solidFill>
              </a:rPr>
              <a:t>Instituto de Computação. UFF</a:t>
            </a:r>
          </a:p>
          <a:p>
            <a:r>
              <a:rPr lang="pt-BR" dirty="0">
                <a:solidFill>
                  <a:srgbClr val="841C39"/>
                </a:solidFill>
              </a:rPr>
              <a:t>Leo Murta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961</Words>
  <Application>Microsoft Office PowerPoint</Application>
  <PresentationFormat>Apresentação na tela (16:9)</PresentationFormat>
  <Paragraphs>126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2" baseType="lpstr">
      <vt:lpstr>Arial</vt:lpstr>
      <vt:lpstr>Impact</vt:lpstr>
      <vt:lpstr>Simple Light</vt:lpstr>
      <vt:lpstr>Laboratório de programação</vt:lpstr>
      <vt:lpstr>O termo "computador" deriva do latim computare ("calcular" ou "contar") </vt:lpstr>
      <vt:lpstr>A necessidade de calcular</vt:lpstr>
      <vt:lpstr>Um computador teórico</vt:lpstr>
      <vt:lpstr>Alan Turing (1912–1954)</vt:lpstr>
      <vt:lpstr>Alan Turing (1912–1954)</vt:lpstr>
      <vt:lpstr>Primeiros computadores</vt:lpstr>
      <vt:lpstr>Primeiros computadores</vt:lpstr>
      <vt:lpstr>Primeiros computadores</vt:lpstr>
      <vt:lpstr>Computadores pessoais</vt:lpstr>
      <vt:lpstr>Computadores atuais</vt:lpstr>
      <vt:lpstr>Hardware vs. Software</vt:lpstr>
      <vt:lpstr>Computadores e programas</vt:lpstr>
      <vt:lpstr>O que os computadores entendem?</vt:lpstr>
      <vt:lpstr>Computador requer abstração</vt:lpstr>
      <vt:lpstr>Computador requer precisão</vt:lpstr>
      <vt:lpstr>Linguagens de montagem (Assembly)</vt:lpstr>
      <vt:lpstr>Linguagens de programação de alto nível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Juliano Caetano</cp:lastModifiedBy>
  <cp:revision>2</cp:revision>
  <dcterms:modified xsi:type="dcterms:W3CDTF">2026-02-06T18:09:12Z</dcterms:modified>
</cp:coreProperties>
</file>