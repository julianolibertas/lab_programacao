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4" r:id="rId1"/>
  </p:sldMasterIdLst>
  <p:notesMasterIdLst>
    <p:notesMasterId r:id="rId19"/>
  </p:notesMasterIdLst>
  <p:sldIdLst>
    <p:sldId id="256" r:id="rId2"/>
    <p:sldId id="258" r:id="rId3"/>
    <p:sldId id="263" r:id="rId4"/>
    <p:sldId id="262" r:id="rId5"/>
    <p:sldId id="264" r:id="rId6"/>
    <p:sldId id="265" r:id="rId7"/>
    <p:sldId id="268" r:id="rId8"/>
    <p:sldId id="269" r:id="rId9"/>
    <p:sldId id="266" r:id="rId10"/>
    <p:sldId id="267" r:id="rId11"/>
    <p:sldId id="272" r:id="rId12"/>
    <p:sldId id="270" r:id="rId13"/>
    <p:sldId id="271" r:id="rId14"/>
    <p:sldId id="273" r:id="rId15"/>
    <p:sldId id="274" r:id="rId16"/>
    <p:sldId id="275" r:id="rId17"/>
    <p:sldId id="27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012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AD75F93-F3E0-993B-00A6-1EB4E83E2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E339098-A031-B451-71D8-1242C43EF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BD20499-123D-F226-DDE8-B1B0743964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0594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2CA149B-5A5C-24BD-FB8B-8C5360997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AE2DE4E9-DA2B-1ADC-8F1A-8259529864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CBDA492-21E5-4D0D-550E-CAFC38715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3640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823E3CC-AF2B-2B28-088C-DE13663E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2C42A67-FFB3-9F3A-0855-B1C260BFCA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FD7E4F7-9477-83E2-4F73-C1431DEFE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8939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768DB9B-E7A7-AF18-B46C-66F46F159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82AB4CE1-9878-86D7-F5BE-1BDC942A1A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F5DD663F-3811-0A3F-EB9A-B9CCE3D32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8415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8A99764-A006-4915-B601-96C9DDC34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021A85A-2931-FD5B-D21F-78ABF35331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89E70F1C-828F-B4D3-61E0-4FC9D96FE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0363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82BDDAB-E2E2-70D3-3609-77C3FF17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8D5B499-B02C-3E61-409C-B72F45A8CC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78C2DF7-4C41-D3F0-E06A-4AD12D37F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005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5D3C9AC-9DD5-9873-BCD6-AB74F96C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D05DB695-21E9-FD7C-22C3-685901642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E1B25598-3CED-DD13-1F7E-DE4DEE1E7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3367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84F7587-DD3B-1BAB-63B6-B03673569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BFA4C9CC-E3C5-78A4-6132-1E016BCF0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10D3DEF-F7EB-9D37-DAC6-18A4AEB47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2131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67EA099-E882-D935-641C-0C5D20DD2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3C13A8BF-5152-1A6C-B6EC-6BAE85790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42EC141C-4F7A-3B13-6676-F25013578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1171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585CC84-9E91-15DD-DE97-CE4A984A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79923EE-6EDD-609E-2645-5D3167401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D54B3286-2E18-4E90-23E6-4B481E361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6697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25B30BE-B691-6CF8-58A3-DE7DBA4A4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D60ACC2-AF86-E79F-E0CC-105D39B71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39BDC04A-6D43-687A-0B93-3242815213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0382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392E404-0F38-AA1A-60DA-326AC6D3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4261C798-AB64-44DE-413E-868483389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99E16F31-D138-20E7-DD32-28C58A8F6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5027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D953133-E74F-3348-62C3-0349569C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04D8AC00-C2CB-A45B-1067-3862888B9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524EFBC1-F4D0-80E8-50B9-FD99CED20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4478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5D8A4D5-ED8B-5E39-4E29-2352FB13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C97A17D9-9850-60BA-83AD-59C43E743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1AE4632C-768F-B15B-D43E-532D97D8E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45295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D957717-B44F-CC5B-77DD-E4ABAF637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f032c298c_0_50:notes">
            <a:extLst>
              <a:ext uri="{FF2B5EF4-FFF2-40B4-BE49-F238E27FC236}">
                <a16:creationId xmlns:a16="http://schemas.microsoft.com/office/drawing/2014/main" id="{51F21999-4CD4-A77A-BD2E-4D57FF0EC4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f032c298c_0_50:notes">
            <a:extLst>
              <a:ext uri="{FF2B5EF4-FFF2-40B4-BE49-F238E27FC236}">
                <a16:creationId xmlns:a16="http://schemas.microsoft.com/office/drawing/2014/main" id="{0686336F-3E6A-7A64-2F58-64E57BCDCB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1168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Sem título-1.jpg"/>
          <p:cNvPicPr preferRelativeResize="0"/>
          <p:nvPr/>
        </p:nvPicPr>
        <p:blipFill rotWithShape="1">
          <a:blip r:embed="rId2">
            <a:alphaModFix/>
          </a:blip>
          <a:srcRect l="11705" t="17901" r="9894" b="1597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4000"/>
              <a:buFont typeface="Impact"/>
              <a:buNone/>
              <a:defRPr sz="4000">
                <a:solidFill>
                  <a:srgbClr val="841C39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1045"/>
              </a:buClr>
              <a:buSzPts val="2400"/>
              <a:buNone/>
              <a:defRPr sz="2400">
                <a:solidFill>
                  <a:srgbClr val="DD1045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2" title="Logo Libertas 185x7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5388" y="4068275"/>
            <a:ext cx="2172676" cy="88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41C39"/>
              </a:buClr>
              <a:buSzPts val="2800"/>
              <a:buNone/>
              <a:defRPr>
                <a:solidFill>
                  <a:srgbClr val="841C3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400"/>
              <a:buChar char="●"/>
              <a:defRPr sz="2400">
                <a:solidFill>
                  <a:srgbClr val="3C5258"/>
                </a:solidFill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●"/>
              <a:defRPr sz="2000">
                <a:solidFill>
                  <a:srgbClr val="3C5258"/>
                </a:solidFill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○"/>
              <a:defRPr sz="2000">
                <a:solidFill>
                  <a:srgbClr val="3C5258"/>
                </a:solidFill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C5258"/>
              </a:buClr>
              <a:buSzPts val="2000"/>
              <a:buChar char="■"/>
              <a:defRPr sz="2000">
                <a:solidFill>
                  <a:srgbClr val="3C525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" name="Google Shape;24;p4" title="Sem título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7437998" y="3437502"/>
            <a:ext cx="1311675" cy="210032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5" name="Google Shape;25;p4" title="Logo Libertas 185x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7" y="4568524"/>
            <a:ext cx="141028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</p:sldLayoutIdLst>
  <p:transition spd="med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ctrTitle"/>
          </p:nvPr>
        </p:nvSpPr>
        <p:spPr>
          <a:xfrm>
            <a:off x="1690375" y="1598750"/>
            <a:ext cx="5642700" cy="144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Introdução a programação</a:t>
            </a:r>
            <a:endParaRPr dirty="0"/>
          </a:p>
        </p:txBody>
      </p:sp>
      <p:sp>
        <p:nvSpPr>
          <p:cNvPr id="44" name="Google Shape;44;p8"/>
          <p:cNvSpPr txBox="1">
            <a:spLocks noGrp="1"/>
          </p:cNvSpPr>
          <p:nvPr>
            <p:ph type="subTitle" idx="1"/>
          </p:nvPr>
        </p:nvSpPr>
        <p:spPr>
          <a:xfrm>
            <a:off x="1181851" y="2871416"/>
            <a:ext cx="6780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indent="0"/>
            <a:r>
              <a:rPr lang="pt-BR" dirty="0"/>
              <a:t>Prof. Juliano Caetano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E se tivermos que pedir para o computador resolver?</a:t>
            </a:r>
            <a:endParaRPr b="1" dirty="0"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Espaço Reservado para Conteúdo 4" descr="Diagrama&#10;&#10;O conteúdo gerado por IA pode estar incorreto.">
            <a:extLst>
              <a:ext uri="{FF2B5EF4-FFF2-40B4-BE49-F238E27FC236}">
                <a16:creationId xmlns:a16="http://schemas.microsoft.com/office/drawing/2014/main" id="{69DEBAB6-AA4D-3311-A7A6-F86AA3329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8448" y="1316760"/>
            <a:ext cx="7485650" cy="3087830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34B8110-CD2B-17D4-4B88-D22EC2F8F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2D928AD-59C2-DF0D-A494-FA05FA6ADF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b="1" dirty="0"/>
              <a:t>Analogia: </a:t>
            </a:r>
            <a:r>
              <a:rPr lang="en-US" b="1" dirty="0" err="1"/>
              <a:t>Secretária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341F6A5B-D7F4-4288-A557-8C47E3AA1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Espaço Reservado para Conteúdo 4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EB313432-4F5E-08E2-628B-333CA421E2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6955" y="1234293"/>
            <a:ext cx="5350089" cy="3464182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17948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FCFFFAA-8E9D-8D25-6A9C-197066157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0664251-FC02-6F3F-2688-A2EA7F1B25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Analogia: Secretária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D0CB0A6D-799D-D1C1-7090-6D58F0BD43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4672676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Secretária conhece um conjunto pequeno de instruções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Ela segue as instruções ao pé da letra.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Cada escaninho tem uma etiqueta com um “rótulo”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No fim do dia, o boy passa e limpa os escaninhos</a:t>
            </a:r>
          </a:p>
        </p:txBody>
      </p:sp>
      <p:pic>
        <p:nvPicPr>
          <p:cNvPr id="2" name="Espaço Reservado para Conteúdo 4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ECA2DD2-6E6D-2474-0F50-93191DB51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725" y="1479176"/>
            <a:ext cx="3592805" cy="2326341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470958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6D1F515-B62E-D94F-61D3-9207E83FD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C777BAF-B618-8FA2-29A3-57E87CAA50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Analogia: Secretária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AC162EC-790D-C9F2-ED5E-5D3225082C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O que a secretária sabe fazer (instruções)</a:t>
            </a:r>
          </a:p>
          <a:p>
            <a:pPr marL="457200" lvl="1" indent="0">
              <a:buNone/>
            </a:pPr>
            <a:r>
              <a:rPr lang="pt-BR" sz="2400" dirty="0"/>
              <a:t>– Ler um valor de um escaninho ou da caixa de entrada</a:t>
            </a:r>
          </a:p>
          <a:p>
            <a:pPr marL="457200" lvl="1" indent="0">
              <a:buNone/>
            </a:pPr>
            <a:r>
              <a:rPr lang="pt-BR" sz="2400" dirty="0"/>
              <a:t>– Escrever um valor em um escaninho ou na caixa de saída</a:t>
            </a:r>
          </a:p>
          <a:p>
            <a:pPr marL="457200" lvl="1" indent="0">
              <a:buNone/>
            </a:pPr>
            <a:r>
              <a:rPr lang="pt-BR" sz="2400" dirty="0"/>
              <a:t>– Calcular (somar, subtrair, multiplicar, dividir)</a:t>
            </a:r>
          </a:p>
          <a:p>
            <a:pPr marL="457200" lvl="1" indent="0">
              <a:buNone/>
            </a:pPr>
            <a:r>
              <a:rPr lang="pt-BR" sz="2400" dirty="0"/>
              <a:t>– Avaliar uma expressão, gerando como resultado </a:t>
            </a:r>
            <a:r>
              <a:rPr lang="pt-BR" sz="2400" b="1" dirty="0"/>
              <a:t>verdadeiro </a:t>
            </a:r>
            <a:r>
              <a:rPr lang="pt-BR" sz="2400" dirty="0"/>
              <a:t>ou </a:t>
            </a:r>
            <a:r>
              <a:rPr lang="pt-BR" sz="2400" b="1" dirty="0"/>
              <a:t>falso</a:t>
            </a:r>
            <a:endParaRPr lang="pt-BR" sz="24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2896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746E357-A2FA-E315-DC46-94CBC862D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083C23D-1AD8-B3FD-C68C-0350722A3A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Algoritmo para somar dois números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5C66F1C-21AC-B194-6E3F-77841A283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pt-BR" i="1" dirty="0"/>
              <a:t>Leia um valor da caixa de entrada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i="1" dirty="0"/>
              <a:t>Escreva esse valor no escaninho 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i="1" dirty="0"/>
              <a:t>Leia um valor da caixa de entrada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i="1" dirty="0"/>
              <a:t>Escreva esse valor no escaninho B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i="1" dirty="0"/>
              <a:t>Some o valor do escaninho A com o valor do escaninho B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i="1" dirty="0"/>
              <a:t>Escreva o resultado no escaninho SOMA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i="1" dirty="0"/>
              <a:t>Leia o valor do escaninho SOMA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pt-BR" i="1" dirty="0"/>
              <a:t>Escreva na caixa de saída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716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2F6F87F-5724-D8C1-152B-379E9A649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9058C7B-5BF9-6634-6AB9-58DCCF3DB5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Secretária x Computador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B48B5871-69E9-3AEC-C0A5-048BE54DDA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Secretária é a CPU do computador (quem executa as instruções)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Instruções são os programas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Escaninhos são as posições na memória RAM do computador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Caixa de Entrada é o teclado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Caixa de Saída é o monitor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</a:t>
            </a:r>
            <a:r>
              <a:rPr lang="pt-BR" i="1" dirty="0"/>
              <a:t>boy </a:t>
            </a:r>
            <a:r>
              <a:rPr lang="pt-BR" dirty="0"/>
              <a:t>no fim do dia esvazia o escaninho: Memória RAM do computador é volátil (apaga se o computador for desligado)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7836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8BE2EA6-90CF-38E4-33CD-CB9CE96F3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8A4BB0FD-C2FA-CDCE-FE90-3E0BDF0547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US" b="1" dirty="0" err="1"/>
              <a:t>Arquitetura</a:t>
            </a:r>
            <a:r>
              <a:rPr lang="en-US" b="1" dirty="0"/>
              <a:t> de um </a:t>
            </a:r>
            <a:r>
              <a:rPr lang="en-US" b="1" dirty="0" err="1"/>
              <a:t>computador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F922A47-8837-BE75-EBC0-8B016AC7B5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Espaço Reservado para Conteúdo 6" descr="Diagrama&#10;&#10;O conteúdo gerado por IA pode estar incorreto.">
            <a:extLst>
              <a:ext uri="{FF2B5EF4-FFF2-40B4-BE49-F238E27FC236}">
                <a16:creationId xmlns:a16="http://schemas.microsoft.com/office/drawing/2014/main" id="{3A30B870-6C7E-7F49-CA23-8A74E4DAC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929" y="1152475"/>
            <a:ext cx="6060142" cy="3302778"/>
          </a:xfrm>
          <a:prstGeom prst="roundRect">
            <a:avLst>
              <a:gd name="adj" fmla="val 530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2568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F07CB95-6290-331D-B7BD-CF8D7D758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E96F7ADE-0DEF-DD49-336A-4859422B68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Instrução “Avalie”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9AFFC82-CA8A-FED9-6DB4-9FB0EB2DE6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Avalia uma expressão e indica se ela é verdadeira ou falsa</a:t>
            </a:r>
            <a:br>
              <a:rPr lang="pt-BR" dirty="0"/>
            </a:br>
            <a:r>
              <a:rPr lang="pt-BR" dirty="0"/>
              <a:t>– Avalie 2 = 3 à falso</a:t>
            </a:r>
            <a:br>
              <a:rPr lang="pt-BR" dirty="0"/>
            </a:br>
            <a:r>
              <a:rPr lang="pt-BR" dirty="0"/>
              <a:t>– Avalie 10 &gt; 5 à verdadeiro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Conector lógico “e”: todos os itens avaliados devem ser verdadeiros para a expressão ser verdadeira</a:t>
            </a:r>
            <a:br>
              <a:rPr lang="pt-BR" dirty="0"/>
            </a:br>
            <a:r>
              <a:rPr lang="pt-BR" dirty="0"/>
              <a:t>– Avalie 10 &gt; 5 e 2 = 3 à falso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Conector lógico “ou”: basta que um dos itens seja verdadeiro para que a expressão seja verdadeira</a:t>
            </a:r>
            <a:br>
              <a:rPr lang="pt-BR" dirty="0"/>
            </a:br>
            <a:r>
              <a:rPr lang="pt-BR" dirty="0"/>
              <a:t>– Avalie 10 &gt; 5 ou 2 = 3 à verdadeiro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4931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25466C8-64CD-09AF-3FC9-D9AC9BE1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3136BEB3-FF2C-98BD-EEDE-F422A850D8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Algoritmo para indicar se um número </a:t>
            </a:r>
            <a:br>
              <a:rPr lang="pt-BR" b="1" dirty="0"/>
            </a:br>
            <a:r>
              <a:rPr lang="pt-BR" b="1" dirty="0"/>
              <a:t>é maior que outro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5C695CA-725F-38B7-8297-256C3DC416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52281"/>
            <a:ext cx="8520600" cy="31165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Leia um valor da caixa de entrada</a:t>
            </a:r>
            <a:br>
              <a:rPr lang="pt-BR" dirty="0"/>
            </a:br>
            <a:r>
              <a:rPr lang="pt-BR" dirty="0"/>
              <a:t>Escreva esse valor no escaninho A</a:t>
            </a:r>
            <a:br>
              <a:rPr lang="pt-BR" dirty="0"/>
            </a:br>
            <a:r>
              <a:rPr lang="pt-BR" dirty="0"/>
              <a:t>Leia um valor da caixa de entrada</a:t>
            </a:r>
            <a:br>
              <a:rPr lang="pt-BR" dirty="0"/>
            </a:br>
            <a:r>
              <a:rPr lang="pt-BR" dirty="0"/>
              <a:t>Escreva esse valor no escaninho B</a:t>
            </a:r>
            <a:br>
              <a:rPr lang="pt-BR" dirty="0"/>
            </a:br>
            <a:r>
              <a:rPr lang="pt-BR" dirty="0"/>
              <a:t>Avalie A &gt; B</a:t>
            </a:r>
            <a:br>
              <a:rPr lang="pt-BR" dirty="0"/>
            </a:br>
            <a:r>
              <a:rPr lang="pt-BR" dirty="0"/>
              <a:t>Escreva o resultado no escaninho R</a:t>
            </a:r>
            <a:br>
              <a:rPr lang="pt-BR" dirty="0"/>
            </a:br>
            <a:r>
              <a:rPr lang="pt-BR" dirty="0"/>
              <a:t>Leia o valor do escaninho R</a:t>
            </a:r>
            <a:br>
              <a:rPr lang="pt-BR" dirty="0"/>
            </a:br>
            <a:r>
              <a:rPr lang="pt-BR" dirty="0"/>
              <a:t>Escreva o valor do escaninho R na caixa de saída</a:t>
            </a:r>
          </a:p>
        </p:txBody>
      </p:sp>
    </p:spTree>
    <p:extLst>
      <p:ext uri="{BB962C8B-B14F-4D97-AF65-F5344CB8AC3E}">
        <p14:creationId xmlns:p14="http://schemas.microsoft.com/office/powerpoint/2010/main" val="327020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A351962-00F3-EFD0-43D0-3762FB04D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D5E1917B-460C-9E1A-DAEE-DDF39B42AF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Pseudocódigo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52BD6FE-128A-8A80-E6CD-CAAD16FD86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Forma genérica, mas sucinta, para escrever um algoritmo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Fácil para um humano entender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Fácil de ser codificada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Voltando aos exemplos anteriores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B76ED75-1FDA-46FE-AE58-89551B8347EE}"/>
              </a:ext>
            </a:extLst>
          </p:cNvPr>
          <p:cNvSpPr/>
          <p:nvPr/>
        </p:nvSpPr>
        <p:spPr>
          <a:xfrm>
            <a:off x="1543987" y="3167294"/>
            <a:ext cx="2196059" cy="13790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/>
              <a:t>Leia A</a:t>
            </a:r>
            <a:br>
              <a:rPr lang="pt-BR" sz="2000" dirty="0"/>
            </a:br>
            <a:r>
              <a:rPr lang="pt-BR" sz="2000" dirty="0"/>
              <a:t>Leia B</a:t>
            </a:r>
            <a:br>
              <a:rPr lang="pt-BR" sz="2000" dirty="0"/>
            </a:br>
            <a:r>
              <a:rPr lang="pt-BR" sz="2000" dirty="0"/>
              <a:t>SOMA ← A + B</a:t>
            </a:r>
          </a:p>
          <a:p>
            <a:r>
              <a:rPr lang="pt-BR" sz="2000" dirty="0"/>
              <a:t>Escreva SOMA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49D5D58-5649-7541-D29B-AA880A722DA3}"/>
              </a:ext>
            </a:extLst>
          </p:cNvPr>
          <p:cNvSpPr/>
          <p:nvPr/>
        </p:nvSpPr>
        <p:spPr>
          <a:xfrm>
            <a:off x="5349288" y="3189779"/>
            <a:ext cx="2196059" cy="1379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/>
              <a:t>Leia A</a:t>
            </a:r>
          </a:p>
          <a:p>
            <a:r>
              <a:rPr lang="pt-BR" sz="2000" dirty="0"/>
              <a:t>Leia B</a:t>
            </a:r>
          </a:p>
          <a:p>
            <a:r>
              <a:rPr lang="pt-BR" sz="2000" dirty="0"/>
              <a:t>R ← A &gt; B</a:t>
            </a:r>
          </a:p>
          <a:p>
            <a:r>
              <a:rPr lang="pt-BR" sz="2000" dirty="0"/>
              <a:t>Escreva R</a:t>
            </a:r>
          </a:p>
        </p:txBody>
      </p:sp>
    </p:spTree>
    <p:extLst>
      <p:ext uri="{BB962C8B-B14F-4D97-AF65-F5344CB8AC3E}">
        <p14:creationId xmlns:p14="http://schemas.microsoft.com/office/powerpoint/2010/main" val="2415269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BC76A7A-EF7F-0EF6-9869-BA1109BC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0EA9ADFD-7007-F0E1-F280-AADD19BE78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75CF4E36-5C01-F5FA-1421-D3CF8AAC1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Em relação ao pseudocódigo a seguir</a:t>
            </a:r>
          </a:p>
          <a:p>
            <a:pPr marL="76200" indent="0">
              <a:buNone/>
            </a:pPr>
            <a:endParaRPr lang="pt-BR" dirty="0"/>
          </a:p>
          <a:p>
            <a:pPr marL="76200" indent="0">
              <a:buNone/>
            </a:pPr>
            <a:endParaRPr lang="pt-BR" dirty="0"/>
          </a:p>
          <a:p>
            <a:pPr marL="76200" indent="0">
              <a:buNone/>
            </a:pPr>
            <a:endParaRPr lang="pt-BR" dirty="0"/>
          </a:p>
          <a:p>
            <a:pPr marL="76200" indent="0">
              <a:buNone/>
            </a:pPr>
            <a:endParaRPr lang="pt-BR" dirty="0"/>
          </a:p>
          <a:p>
            <a:pPr marL="76200" indent="0">
              <a:buNone/>
            </a:pPr>
            <a:r>
              <a:rPr lang="pt-BR" dirty="0"/>
              <a:t>Quais são os dados de entrada e saída?</a:t>
            </a:r>
          </a:p>
          <a:p>
            <a:pPr marL="76200" indent="0">
              <a:buNone/>
            </a:pPr>
            <a:r>
              <a:rPr lang="pt-BR" dirty="0"/>
              <a:t>Quais linhas são somente de processamento?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82E0A65-8663-295A-6497-46DA51494872}"/>
              </a:ext>
            </a:extLst>
          </p:cNvPr>
          <p:cNvSpPr/>
          <p:nvPr/>
        </p:nvSpPr>
        <p:spPr>
          <a:xfrm>
            <a:off x="509667" y="1750722"/>
            <a:ext cx="4182254" cy="13790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/>
              <a:t>Leia Valor</a:t>
            </a:r>
          </a:p>
          <a:p>
            <a:r>
              <a:rPr lang="pt-BR" sz="2000" dirty="0"/>
              <a:t>Leia Quantidade</a:t>
            </a:r>
          </a:p>
          <a:p>
            <a:r>
              <a:rPr lang="pt-BR" sz="2000" dirty="0"/>
              <a:t>Total ← Valor * Quantidade</a:t>
            </a:r>
          </a:p>
          <a:p>
            <a:r>
              <a:rPr lang="pt-BR" sz="2000" dirty="0"/>
              <a:t>Escreva Total</a:t>
            </a:r>
          </a:p>
        </p:txBody>
      </p:sp>
    </p:spTree>
    <p:extLst>
      <p:ext uri="{BB962C8B-B14F-4D97-AF65-F5344CB8AC3E}">
        <p14:creationId xmlns:p14="http://schemas.microsoft.com/office/powerpoint/2010/main" val="1602493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9772786-E325-C6AB-C87D-F334D6BA8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71F777B5-040B-CCE3-7A68-0CD377C676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C35BC8DC-5F24-FBE6-DD24-4EA86619F3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Qual é a funcionalidade desse algoritmo?</a:t>
            </a:r>
          </a:p>
          <a:p>
            <a:pPr marL="76200" indent="0">
              <a:buNone/>
            </a:pPr>
            <a:r>
              <a:rPr lang="pt-BR" dirty="0"/>
              <a:t>Execute para os valores 25 e 7.</a:t>
            </a:r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14AEC87-D68C-226A-EA52-D983030575F5}"/>
              </a:ext>
            </a:extLst>
          </p:cNvPr>
          <p:cNvSpPr/>
          <p:nvPr/>
        </p:nvSpPr>
        <p:spPr>
          <a:xfrm>
            <a:off x="2031168" y="2113613"/>
            <a:ext cx="5081664" cy="27581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/>
              <a:t>Leia A</a:t>
            </a:r>
          </a:p>
          <a:p>
            <a:r>
              <a:rPr lang="pt-BR" sz="2000" dirty="0"/>
              <a:t>Leia B</a:t>
            </a:r>
          </a:p>
          <a:p>
            <a:r>
              <a:rPr lang="pt-BR" sz="2000" dirty="0"/>
              <a:t>C ← 0</a:t>
            </a:r>
          </a:p>
          <a:p>
            <a:r>
              <a:rPr lang="pt-BR" sz="2000" dirty="0"/>
              <a:t>Enquanto A &gt;= B faça {</a:t>
            </a:r>
          </a:p>
          <a:p>
            <a:r>
              <a:rPr lang="pt-BR" sz="2000" dirty="0"/>
              <a:t>	A ← A – B</a:t>
            </a:r>
          </a:p>
          <a:p>
            <a:r>
              <a:rPr lang="pt-BR" sz="2000" dirty="0"/>
              <a:t>	C ← C + 1</a:t>
            </a:r>
          </a:p>
          <a:p>
            <a:r>
              <a:rPr lang="pt-BR" sz="2000" dirty="0"/>
              <a:t>}</a:t>
            </a:r>
          </a:p>
          <a:p>
            <a:r>
              <a:rPr lang="pt-BR" sz="2000" dirty="0"/>
              <a:t>Escreva C</a:t>
            </a:r>
          </a:p>
          <a:p>
            <a:r>
              <a:rPr lang="pt-BR" sz="2000" dirty="0"/>
              <a:t>Escreva A</a:t>
            </a:r>
          </a:p>
        </p:txBody>
      </p:sp>
    </p:spTree>
    <p:extLst>
      <p:ext uri="{BB962C8B-B14F-4D97-AF65-F5344CB8AC3E}">
        <p14:creationId xmlns:p14="http://schemas.microsoft.com/office/powerpoint/2010/main" val="1282953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35A96CE-B544-9773-FFE8-688219F5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9C700CA1-A7A1-D51F-ACB3-37D1962890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7C5DF3C-F07D-781F-8D4E-8931177083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Escreva um algoritmo em pseudocódigo para</a:t>
            </a:r>
          </a:p>
          <a:p>
            <a:pPr marL="76200" indent="0">
              <a:buNone/>
            </a:pPr>
            <a:r>
              <a:rPr lang="pt-BR" dirty="0"/>
              <a:t>a) Somar três números</a:t>
            </a:r>
          </a:p>
          <a:p>
            <a:pPr marL="76200" indent="0">
              <a:buNone/>
            </a:pPr>
            <a:r>
              <a:rPr lang="pt-BR" dirty="0"/>
              <a:t>b) Calcular a média de um aluno numa disciplina, sendo</a:t>
            </a:r>
          </a:p>
          <a:p>
            <a:pPr marL="533400" lvl="1" indent="0">
              <a:buNone/>
            </a:pPr>
            <a:r>
              <a:rPr lang="pt-BR" dirty="0"/>
              <a:t>Média = (Provas + 3 x Trabalho + Participação) / 10</a:t>
            </a:r>
          </a:p>
          <a:p>
            <a:pPr marL="533400" lvl="1" indent="0">
              <a:buNone/>
            </a:pPr>
            <a:r>
              <a:rPr lang="pt-BR" dirty="0"/>
              <a:t>Provas = 3 x Prova1 + 3 x Prova2</a:t>
            </a:r>
          </a:p>
          <a:p>
            <a:pPr marL="76200" indent="0">
              <a:buNone/>
            </a:pPr>
            <a:r>
              <a:rPr lang="pt-BR" dirty="0"/>
              <a:t>c) Calcular o peso ideal de uma pessoa, assumindo</a:t>
            </a:r>
          </a:p>
          <a:p>
            <a:pPr marL="533400" lvl="1" indent="0">
              <a:buNone/>
            </a:pPr>
            <a:r>
              <a:rPr lang="pt-BR" dirty="0"/>
              <a:t>Homem: Peso = (72,7 * Altura) - 58</a:t>
            </a:r>
          </a:p>
          <a:p>
            <a:pPr marL="533400" lvl="1" indent="0">
              <a:buNone/>
            </a:pPr>
            <a:r>
              <a:rPr lang="pt-BR" dirty="0"/>
              <a:t>Mulher: Peso = (62,1 * Altura) - 44,7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595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BCF8D16-4DC9-A110-82E6-64C72A59E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F18C7621-AE32-3BDC-DB5E-F91EF6153C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A335F6E6-656F-1DC5-2775-A807CB6F01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Escreva um algoritmo para separar o líquido de três garrafas com formatos diferentes em duas quantidades iguais, onde</a:t>
            </a:r>
          </a:p>
          <a:p>
            <a:pPr marL="533400" lvl="1" indent="0">
              <a:buNone/>
            </a:pPr>
            <a:r>
              <a:rPr lang="pt-BR" dirty="0"/>
              <a:t>– A garrafa A está cheia e tem capacidade de 8 litros</a:t>
            </a:r>
          </a:p>
          <a:p>
            <a:pPr marL="533400" lvl="1" indent="0">
              <a:buNone/>
            </a:pPr>
            <a:r>
              <a:rPr lang="pt-BR" dirty="0"/>
              <a:t>– A garrafa B está vazia e tem capacidade de 5 litros</a:t>
            </a:r>
          </a:p>
          <a:p>
            <a:pPr marL="533400" lvl="1" indent="0">
              <a:buNone/>
            </a:pPr>
            <a:r>
              <a:rPr lang="pt-BR" dirty="0"/>
              <a:t>– A garrafa C está vazia e tem capacidade de 3 litros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5609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7D33A5C-2B53-584C-AA45-819BC68A1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5CFD44D6-1CAD-0056-1324-CE7862471D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Exercício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9B6001FA-EE44-DFB6-93DF-85FBF17D93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76200" indent="0">
              <a:buNone/>
            </a:pPr>
            <a:r>
              <a:rPr lang="pt-BR" dirty="0"/>
              <a:t>Escreva um algoritmo para descobrir a moeda falsa (mais leve) de um total de 5 moedas usando uma balança analítica</a:t>
            </a:r>
          </a:p>
          <a:p>
            <a:pPr marL="533400" lvl="1" indent="0">
              <a:buNone/>
            </a:pPr>
            <a:r>
              <a:rPr lang="pt-BR" dirty="0"/>
              <a:t>– Dica: é possível resolver com somente duas pesagens</a:t>
            </a:r>
          </a:p>
          <a:p>
            <a:pPr marL="76200" indent="0">
              <a:buNone/>
            </a:pPr>
            <a:r>
              <a:rPr lang="pt-BR" dirty="0"/>
              <a:t>Idem ao anterior, mas com um total de 27 moedas</a:t>
            </a:r>
          </a:p>
          <a:p>
            <a:pPr marL="533400" lvl="1" indent="0">
              <a:buNone/>
            </a:pPr>
            <a:r>
              <a:rPr lang="pt-BR" dirty="0"/>
              <a:t>– Dica: é possível resolver com somente três pesagens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8362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C63A331-F203-78A1-2844-77E4673ED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>
            <a:extLst>
              <a:ext uri="{FF2B5EF4-FFF2-40B4-BE49-F238E27FC236}">
                <a16:creationId xmlns:a16="http://schemas.microsoft.com/office/drawing/2014/main" id="{C3CCB069-BA21-7FDC-B5C2-C359007047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pt-BR" b="1" dirty="0"/>
              <a:t>Referências</a:t>
            </a:r>
            <a:endParaRPr dirty="0"/>
          </a:p>
        </p:txBody>
      </p:sp>
      <p:sp>
        <p:nvSpPr>
          <p:cNvPr id="55" name="Google Shape;55;p10">
            <a:extLst>
              <a:ext uri="{FF2B5EF4-FFF2-40B4-BE49-F238E27FC236}">
                <a16:creationId xmlns:a16="http://schemas.microsoft.com/office/drawing/2014/main" id="{586E49B2-98C3-CA1F-F348-97F967F5C5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Tx/>
              <a:buChar char="-"/>
            </a:pPr>
            <a:r>
              <a:rPr lang="pt-BR" dirty="0"/>
              <a:t>Baseado no PDF, slides de Leonardo Murta, UFF</a:t>
            </a:r>
          </a:p>
          <a:p>
            <a:pPr>
              <a:buFontTx/>
              <a:buChar char="-"/>
            </a:pPr>
            <a:endParaRPr lang="pt-BR" dirty="0"/>
          </a:p>
          <a:p>
            <a:pPr marL="533400" lvl="1" indent="0">
              <a:buNone/>
            </a:pPr>
            <a:r>
              <a:rPr lang="pt-BR" dirty="0"/>
              <a:t>Alguns exercícios extraídos do livro Furlan, M.,</a:t>
            </a:r>
          </a:p>
          <a:p>
            <a:pPr marL="533400" lvl="1" indent="0">
              <a:buNone/>
            </a:pPr>
            <a:r>
              <a:rPr lang="pt-BR" dirty="0"/>
              <a:t>Gomes, M., Soares, M., Concilio, R., 2005,</a:t>
            </a:r>
          </a:p>
          <a:p>
            <a:pPr marL="533400" lvl="1" indent="0">
              <a:buNone/>
            </a:pPr>
            <a:r>
              <a:rPr lang="pt-BR" dirty="0"/>
              <a:t>“Algoritmos e Lógica de Programação”, Editora</a:t>
            </a:r>
          </a:p>
          <a:p>
            <a:pPr marL="533400" lvl="1" indent="0">
              <a:buNone/>
            </a:pPr>
            <a:r>
              <a:rPr lang="pt-BR" dirty="0"/>
              <a:t>Thomson.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286548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</TotalTime>
  <Words>768</Words>
  <Application>Microsoft Office PowerPoint</Application>
  <PresentationFormat>Apresentação na tela (16:9)</PresentationFormat>
  <Paragraphs>99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Impact</vt:lpstr>
      <vt:lpstr>Simple Light</vt:lpstr>
      <vt:lpstr>Introdução a programação</vt:lpstr>
      <vt:lpstr>E se tivermos que pedir para o computador resolver?</vt:lpstr>
      <vt:lpstr>Analogia: Secretária</vt:lpstr>
      <vt:lpstr>Analogia: Secretária</vt:lpstr>
      <vt:lpstr>Analogia: Secretária</vt:lpstr>
      <vt:lpstr>Algoritmo para somar dois números</vt:lpstr>
      <vt:lpstr>Secretária x Computador</vt:lpstr>
      <vt:lpstr>Arquitetura de um computador</vt:lpstr>
      <vt:lpstr>Instrução “Avalie”</vt:lpstr>
      <vt:lpstr>Algoritmo para indicar se um número  é maior que outro</vt:lpstr>
      <vt:lpstr>Pseudocódigo</vt:lpstr>
      <vt:lpstr>Exercício</vt:lpstr>
      <vt:lpstr>Exercício</vt:lpstr>
      <vt:lpstr>Exercício</vt:lpstr>
      <vt:lpstr>Exercício</vt:lpstr>
      <vt:lpstr>Exercício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Juliano Caetano</cp:lastModifiedBy>
  <cp:revision>2</cp:revision>
  <dcterms:modified xsi:type="dcterms:W3CDTF">2026-02-22T13:28:38Z</dcterms:modified>
</cp:coreProperties>
</file>