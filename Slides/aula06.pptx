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5"/>
  </p:notesMasterIdLst>
  <p:sldIdLst>
    <p:sldId id="256" r:id="rId2"/>
    <p:sldId id="258" r:id="rId3"/>
    <p:sldId id="270" r:id="rId4"/>
    <p:sldId id="262" r:id="rId5"/>
    <p:sldId id="263" r:id="rId6"/>
    <p:sldId id="264" r:id="rId7"/>
    <p:sldId id="269" r:id="rId8"/>
    <p:sldId id="271" r:id="rId9"/>
    <p:sldId id="272" r:id="rId10"/>
    <p:sldId id="273" r:id="rId11"/>
    <p:sldId id="274" r:id="rId12"/>
    <p:sldId id="275" r:id="rId13"/>
    <p:sldId id="276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75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0563FB7-74E9-9404-5861-118979C2B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EF4C265-6AC1-880F-BB8B-DAD4E47E0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76428F2-900A-62F9-A074-FBDB9698AC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955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AA53BB0-B599-0599-B79B-C7A85D1E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A205263-CD2F-F596-BE9B-63D60370E1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87466D2-83FF-FF7C-86E1-20436FDFC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operador módulo em Python, representado pelo símbolo de porcentagem (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%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), é um operador aritmético fundamental que retorna o 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resto da divisão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entre dois números. 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contrário da divisão comum (/), que resulta no quociente, o % foca no que "sobra" após a divisão inteira. </a:t>
            </a:r>
          </a:p>
          <a:p>
            <a:pPr marL="158750" indent="0">
              <a:buNone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Como Funciona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Quando você divide  por (A % B):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Python calcula quantas vezes inteiras cabe dentro de Subtrai esse valor do total.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resultado é o resto. </a:t>
            </a:r>
          </a:p>
          <a:p>
            <a:pPr marL="158750" indent="0">
              <a:buNone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Exemplos básicos:</a:t>
            </a: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10 % 3 é 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(3 cabe três vezes em 10, e sobra 1: 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 ).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12 % 5 é 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(5 cabe duas vezes em 12, e sobra 2: 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 </a:t>
            </a:r>
          </a:p>
          <a:p>
            <a:pPr marL="158750" indent="0"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).10 % 2 é 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(10 é divisível por 2, sem sobras).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9896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55E8F7C-EAF7-65FE-B89D-8B73483E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DFBBBFA-DA78-FE75-0A9B-D6683300C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6AB65D0-3900-55AB-3048-9A19D70D4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08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7CC2416-F7F0-9265-7402-EBD7D055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6A51560-A9F0-8E28-3CEB-298A8E8C9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318A7B0-FE6E-18EF-122C-E1387A4C0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166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58EF928-23F7-14CC-ADD7-405ECE77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7635E24F-DEF7-A206-0132-76D315C04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D3CBA4F-FD3F-AE7E-AA8C-950D9CF15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297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0F1639E-69F0-EB55-04DA-B90354C82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3747379-4705-720F-C30A-410DDE0CB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04098C8-C8A4-2A81-26D0-AF7C96016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439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F5C5B28-8378-BFF4-75C5-C62E6555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E92C650-B19D-6C49-A1FA-8CE64D7BA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64B6A89-603E-E5EF-7177-876A4702D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9268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605D537-F485-7DE8-8D55-5BB2D1D8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D23716E-3310-5EBB-F4A3-51A732D168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E09E976-1008-4A62-3EDF-285EAE9EC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024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3D1732A-9ED2-7B40-D0E0-B4778DC0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8ED5A8A-9908-7F51-E19C-665E99950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64205FA-94EF-D196-F353-CFDA4A6960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750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1A17890-3FCA-58DF-3990-0D3B1F8A0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EA665B8-9B1D-78B6-D630-0E047B217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054A955-58D6-209B-CB82-AC721BC2C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171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6158510-763A-3AAD-938D-6EAF4DFE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FCB3492-9D2D-6599-CE07-D5FE4F80B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6D2DBC4-0033-D571-08C3-CAE7675E5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2004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Laboratório de programação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IDLE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sz="1800" dirty="0"/>
              <a:t>Python também fornece uma interface interativa para execução de pequenas sequencias de comandos. Basta rodar IDLE ou chamar Python no prompt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Imagem 1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A7C2DAFD-7E6F-7964-943D-F4CBFAE98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892153"/>
            <a:ext cx="7914381" cy="28063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F51EE46-EAD8-F06C-A7A8-B55D6F69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2D2E8DC-F8C3-A9FA-68CE-E48C375047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aritméticos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3F61BC0-4803-CDF6-8E81-DCBB805C3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Operadores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Aritméticos (usados em contas)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Relacionais (usados em comparações numéricas)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Lógicos (usados em comparações lógicas)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De atribuição (armazenamento de valores em variáveis)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045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4056B43-18DE-A33F-ABE4-5ED905AA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A0C829C-9BFB-BC10-7625-12E6F5B37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aritméticos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D63C050-7581-8A81-B509-9CCF5F4AC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7258" y="1263942"/>
            <a:ext cx="396049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Sempre têm </a:t>
            </a:r>
            <a:r>
              <a:rPr lang="pt-BR" b="1" dirty="0"/>
              <a:t>números como operandos.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Sempre têm </a:t>
            </a:r>
            <a:r>
              <a:rPr lang="pt-BR" b="1" dirty="0"/>
              <a:t>resultado numérico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047D486-7A6E-BC87-2A3D-691A0D1F1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72" y="243626"/>
            <a:ext cx="4985770" cy="454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5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D79E0C0-3406-0487-457A-73B5546A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F32FEBA-5432-18A6-0255-14EE6116F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Conversão de Tipos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E89D90A-7C87-7C07-B527-00639205F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Em algumas situações o programador deseja transformar o tipo de uma expressão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Para isso, basta envolver a expressão a ser transformada por “tipo(expressão)”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Exemplo: transformar um real em um inteiro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a = 5.1</a:t>
            </a:r>
            <a:br>
              <a:rPr lang="pt-BR" dirty="0"/>
            </a:br>
            <a:r>
              <a:rPr lang="pt-BR" dirty="0"/>
              <a:t>x = </a:t>
            </a:r>
            <a:r>
              <a:rPr lang="pt-BR" dirty="0" err="1"/>
              <a:t>int</a:t>
            </a:r>
            <a:r>
              <a:rPr lang="pt-BR" dirty="0"/>
              <a:t>(a)           # x vale 5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Exemplo: transformar um inteiro em um real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b = 5</a:t>
            </a:r>
            <a:br>
              <a:rPr lang="pt-BR" dirty="0"/>
            </a:br>
            <a:r>
              <a:rPr lang="pt-BR" dirty="0"/>
              <a:t>y = </a:t>
            </a:r>
            <a:r>
              <a:rPr lang="pt-BR" dirty="0" err="1"/>
              <a:t>float</a:t>
            </a:r>
            <a:r>
              <a:rPr lang="pt-BR" dirty="0"/>
              <a:t>(b)        # y vale 5.0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45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95F44CD-BAD3-F357-9F06-3AEC6167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3265B19-F221-EEB7-06CD-364410492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8983315-9E12-484E-5E08-8A5F623087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sz="1800" dirty="0"/>
              <a:t>Um cliente comprou um produto e recebeu um desconto de 15%. O programa deve ler o valor original e exibir o valor do desconto e o novo preço.</a:t>
            </a:r>
            <a:endParaRPr sz="18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EABECBD-ED8C-DD01-F7F4-E5A8D730A376}"/>
              </a:ext>
            </a:extLst>
          </p:cNvPr>
          <p:cNvSpPr/>
          <p:nvPr/>
        </p:nvSpPr>
        <p:spPr>
          <a:xfrm>
            <a:off x="1487774" y="2106118"/>
            <a:ext cx="6168452" cy="23322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/>
              <a:t>Início</a:t>
            </a:r>
          </a:p>
          <a:p>
            <a:r>
              <a:rPr lang="pt-BR" sz="1800" dirty="0"/>
              <a:t>    Leia VALOR_PRODUTO</a:t>
            </a:r>
          </a:p>
          <a:p>
            <a:r>
              <a:rPr lang="pt-BR" sz="1800" dirty="0"/>
              <a:t>    DESCONTO ← VALOR_PRODUTO * 0.15</a:t>
            </a:r>
          </a:p>
          <a:p>
            <a:r>
              <a:rPr lang="pt-BR" sz="1800" dirty="0"/>
              <a:t>    PRECO_FINAL ← VALOR_PRODUTO - DESCONTO</a:t>
            </a:r>
          </a:p>
          <a:p>
            <a:r>
              <a:rPr lang="pt-BR" sz="1800" dirty="0"/>
              <a:t>    Escreva "Desconto: R$", DESCONTO</a:t>
            </a:r>
          </a:p>
          <a:p>
            <a:r>
              <a:rPr lang="pt-BR" sz="1800" dirty="0"/>
              <a:t>    Escreva "Total a pagar: R$", PRECO_FINAL</a:t>
            </a:r>
          </a:p>
          <a:p>
            <a:r>
              <a:rPr lang="pt-BR" sz="1800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28506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FD781E8-0BC4-58D1-64D5-29A7A95E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F80D3BB-3D36-0A7F-356D-939B28526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8ECBD0B-2EA2-6B08-98CF-C32530EC8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sz="1800" dirty="0"/>
              <a:t>Leia um valor inteiro em segundos e transforme-o no formato de Horas, Minutos e Segundos. Por exemplo, 3661 segundos equivalem a 1 hora, 1 minuto e 1 segundo.</a:t>
            </a:r>
            <a:endParaRPr sz="18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66BDB67-2F28-0ED3-DDA7-07D87434B486}"/>
              </a:ext>
            </a:extLst>
          </p:cNvPr>
          <p:cNvSpPr/>
          <p:nvPr/>
        </p:nvSpPr>
        <p:spPr>
          <a:xfrm>
            <a:off x="1187970" y="2226040"/>
            <a:ext cx="6768059" cy="26095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Início</a:t>
            </a:r>
          </a:p>
          <a:p>
            <a:r>
              <a:rPr lang="pt-BR" sz="1600" dirty="0"/>
              <a:t>    Leia TOTAL_SEGUNDOS</a:t>
            </a:r>
          </a:p>
          <a:p>
            <a:r>
              <a:rPr lang="pt-BR" sz="1600" dirty="0"/>
              <a:t>    HORAS ← TOTAL_SEGUNDOS // 3600</a:t>
            </a:r>
          </a:p>
          <a:p>
            <a:r>
              <a:rPr lang="pt-BR" sz="1600" dirty="0"/>
              <a:t>    RESTO_SEGUNDOS ← TOTAL_SEGUNDOS % 3600</a:t>
            </a:r>
          </a:p>
          <a:p>
            <a:r>
              <a:rPr lang="pt-BR" sz="1600" dirty="0"/>
              <a:t>    MINUTOS ← RESTO_SEGUNDOS // 60</a:t>
            </a:r>
          </a:p>
          <a:p>
            <a:r>
              <a:rPr lang="pt-BR" sz="1600" dirty="0"/>
              <a:t>    SEGUNDOS_FINAIS ← RESTO_SEGUNDOS % 60</a:t>
            </a:r>
          </a:p>
          <a:p>
            <a:r>
              <a:rPr lang="pt-BR" sz="1600" dirty="0"/>
              <a:t>    Escreva HORAS, "h ", MINUTOS, "m ", SEGUNDOS_FINAIS, "s"</a:t>
            </a:r>
          </a:p>
          <a:p>
            <a:r>
              <a:rPr lang="pt-BR" sz="1600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57735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4CE3143-F49A-0A17-F280-FE4C06232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26A2334-F87D-AE40-1805-CE65002FF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relacionais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0386513-87D7-C4D2-66C7-16D6E1F96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800" dirty="0"/>
              <a:t>Sempre têm números ou </a:t>
            </a:r>
            <a:r>
              <a:rPr lang="pt-BR" sz="1800" dirty="0" err="1"/>
              <a:t>strings</a:t>
            </a:r>
            <a:r>
              <a:rPr lang="pt-BR" sz="1800" dirty="0"/>
              <a:t> como operandos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800" dirty="0"/>
              <a:t>Sempre têm resultado booleano</a:t>
            </a:r>
            <a:endParaRPr sz="1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6D81DD3-1490-6CF3-2A1D-84DBC9CA3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663" y="2173815"/>
            <a:ext cx="4278673" cy="270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6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1F42254-5C38-5CEC-8AE1-EE35D112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5492975-5FB6-3771-B55A-702B18C3B9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lógicos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5B16E06-C83D-B802-C566-C16D69540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800" dirty="0"/>
              <a:t>Sempre têm booleanos como operandos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800" dirty="0"/>
              <a:t>Sempre têm resultado booleano</a:t>
            </a:r>
            <a:endParaRPr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1A57DF-71EC-CA27-5624-13356C244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33" y="2500511"/>
            <a:ext cx="4896533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50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D3820DA-70CB-7F80-F5E4-B7F3C410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159A3F2-5E12-552F-2EC1-B59D5EF87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Tabela verdade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DCEFB50-0A09-32C9-569D-D17F56189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sz="1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38D22AB-62BD-66F9-FF04-4A821B734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" y="1212435"/>
            <a:ext cx="8245825" cy="28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6972EF1-2D4E-BDD2-8662-8C495ECE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CE48EE0-74AB-29A8-75F7-7C539739C9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de atribuição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76C1EB8-5D6A-E2E1-4501-BBEF0FF16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Variável do lado esquerdo, valor ou expressão do lado direito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	x = 0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Pode-se atribuir valor a várias varáveis ao mesmo tempo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	x = y = z = 0   </a:t>
            </a:r>
            <a:r>
              <a:rPr lang="pt-BR" i="1" dirty="0"/>
              <a:t># x, y e z terão valor 0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Pode-se também atribuir valores diferentes para variáveis diferentes ao mesmo tempo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	x, y = 1, 2    </a:t>
            </a:r>
            <a:r>
              <a:rPr lang="pt-BR" i="1" dirty="0"/>
              <a:t># x terá o valor 1, e y terá o valor 2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183482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49BCD79-263E-0330-1011-404D7108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A605DDD-A6F8-8BFD-E73E-DAFEBDAB59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de atribuição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2D98E07-6A29-9677-E86A-4847609EB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2916314-609E-AF5F-D623-6532A7F99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295" y="1017725"/>
            <a:ext cx="6309410" cy="37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42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D748049-3F0F-7D98-47C8-D5896B3D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3EC1F81-C928-F443-C530-A7198A7D7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Referências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5B27687-8961-52EF-DB3D-9DFA90F08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Tutorial Python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https://docs.python.org/ptbr/3/tutorial/controlflow.html#if-statements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Slides feitos em conjunto com Aline Paes e Vanessa </a:t>
            </a:r>
            <a:r>
              <a:rPr lang="pt-BR" dirty="0" err="1"/>
              <a:t>Braganholo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Slide: Leonardo Murta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80195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604</Words>
  <Application>Microsoft Office PowerPoint</Application>
  <PresentationFormat>Apresentação na tela (16:9)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Impact</vt:lpstr>
      <vt:lpstr>Simple Light</vt:lpstr>
      <vt:lpstr>Laboratório de programação</vt:lpstr>
      <vt:lpstr>IDLE</vt:lpstr>
      <vt:lpstr>Operadores aritméticos</vt:lpstr>
      <vt:lpstr>Operadores aritméticos</vt:lpstr>
      <vt:lpstr>Conversão de Tipos</vt:lpstr>
      <vt:lpstr>Exercício</vt:lpstr>
      <vt:lpstr>Exercício</vt:lpstr>
      <vt:lpstr>Operadores relacionais</vt:lpstr>
      <vt:lpstr>Operadores lógicos</vt:lpstr>
      <vt:lpstr>Tabela verdade</vt:lpstr>
      <vt:lpstr>Operadores de atribuição</vt:lpstr>
      <vt:lpstr>Operadores de atribuição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4</cp:revision>
  <dcterms:modified xsi:type="dcterms:W3CDTF">2026-03-09T00:28:35Z</dcterms:modified>
</cp:coreProperties>
</file>