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8" r:id="rId3"/>
    <p:sldId id="262" r:id="rId4"/>
    <p:sldId id="263" r:id="rId5"/>
    <p:sldId id="264" r:id="rId6"/>
    <p:sldId id="265" r:id="rId7"/>
    <p:sldId id="277" r:id="rId8"/>
    <p:sldId id="266" r:id="rId9"/>
    <p:sldId id="267" r:id="rId10"/>
    <p:sldId id="268" r:id="rId11"/>
    <p:sldId id="278" r:id="rId12"/>
    <p:sldId id="269" r:id="rId13"/>
    <p:sldId id="279" r:id="rId14"/>
    <p:sldId id="280" r:id="rId15"/>
    <p:sldId id="270" r:id="rId16"/>
    <p:sldId id="281" r:id="rId17"/>
    <p:sldId id="272" r:id="rId18"/>
    <p:sldId id="276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B21B1F-049D-FFBB-9900-63000AEB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BD03BC9-56DA-402A-5C1F-C17003790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85235F6-4D34-FE43-F400-6C7C24425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72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B696574-D97B-5410-7CA0-E2EAA84A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049C442-312D-1987-E92E-3DF8612C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2984FEB-226F-A42D-49B1-8C53C2FB9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5220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E0EBDF-BBCD-5244-562E-12AF249A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1BC3A9A-F9FE-0768-7EC3-A379BCA2A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0659B4E-DF01-9BD3-E7B7-B103DC50C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85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32C8E6E-3FCC-BAD1-4E1D-D120651F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FCC7E97-0EA4-8D1D-28D3-ED3C7046F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A5D2A18-0047-0F08-3853-DC9A9091B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052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A47B82C-3F01-B51B-B3D2-F0CB38EA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3D720D4-8420-F7B2-849A-26C60346C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A9555D2-B74F-19CD-BC18-1B4591E6D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720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AFBA248-265C-93EE-5CF2-8B056D52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21E7ACA-BE76-343F-68CA-957FF6DEA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7F261BB-9A28-BDEF-BF9A-FC305CC45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54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50BA625-01A3-8475-291B-A5BD569D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28F302E-FF0B-E001-868A-818C04A85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8AA0D2D-08ED-D10E-2F45-B80EA3129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598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79D1857-0F73-C923-4AA6-EC5241FE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C2342D5-08FD-239B-B2CE-396DBB8BB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17FEC29-07C6-A121-4142-7FED2FFC8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752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A0F5B6F-8103-6FD2-EE11-16001C54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6BA15F8-CBA6-87CD-1A72-77488ECAC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07E8CE1-CE4E-3910-CA61-60799D8A8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955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7FA0B5D-C310-925B-E905-218B9892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650EFD3-5B53-0B79-E6E9-75B4A1A5D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74B032C-7E9C-D243-BEB1-5DAFDA365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720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AC4A6ED-14BF-EA30-3FA8-3A9AF769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3CED20A-7CEE-0C8F-6A1C-1554052BB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E4B1F4E-36AB-95CD-9BCC-D14F966B4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521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949E587-47C5-6817-210B-B5E28751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9344E27-B8BD-46C5-DCF0-2EEE40F7E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EC6A822-67AE-422E-8E72-1B22B16F1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875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87C6E38-67E0-A8DA-A251-92E6888F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148F161-6E07-1BFC-F378-991E5390A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D1FB8EB-0B4D-C039-DFA2-A5CEF2CDC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779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09AFF90-6321-E335-1EA8-F12FAD60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C3B58F0-A6F1-848A-9A5F-7FF02B16A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17F95AB-D5E3-7C2F-73AD-D62DE0367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558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59AAA72-DAB7-ED36-C22B-CDDE9AFA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9406D51-D4ED-1106-0FE0-81888F09D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4B361A1-D071-994D-09D5-E0CCE0918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63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158510-763A-3AAD-938D-6EAF4DFE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FCB3492-9D2D-6599-CE07-D5FE4F80B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6D2DBC4-0033-D571-08C3-CAE7675E5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200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Estruturas de Decisão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Laboratório de programação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Aula de hoje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3229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Mecanismos de decisão: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b="1" dirty="0"/>
              <a:t> </a:t>
            </a:r>
            <a:r>
              <a:rPr lang="pt-BR" b="1" dirty="0" err="1"/>
              <a:t>if</a:t>
            </a:r>
            <a:r>
              <a:rPr lang="pt-BR" b="1" dirty="0"/>
              <a:t> ...</a:t>
            </a:r>
            <a:br>
              <a:rPr lang="pt-BR" dirty="0"/>
            </a:br>
            <a:r>
              <a:rPr lang="pt-BR" dirty="0"/>
              <a:t>– Executa algo somente quando uma condição é verdadeira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b="1" dirty="0" err="1"/>
              <a:t>if</a:t>
            </a:r>
            <a:r>
              <a:rPr lang="pt-BR" b="1" dirty="0"/>
              <a:t>... Else</a:t>
            </a:r>
            <a:br>
              <a:rPr lang="pt-BR" dirty="0"/>
            </a:br>
            <a:r>
              <a:rPr lang="pt-BR" dirty="0"/>
              <a:t>– Bifurca a execução do código em função de uma condição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b="1" dirty="0" err="1"/>
              <a:t>if</a:t>
            </a:r>
            <a:r>
              <a:rPr lang="pt-BR" b="1" dirty="0"/>
              <a:t>... </a:t>
            </a:r>
            <a:r>
              <a:rPr lang="pt-BR" b="1" dirty="0" err="1"/>
              <a:t>elif</a:t>
            </a:r>
            <a:r>
              <a:rPr lang="pt-BR" b="1" dirty="0"/>
              <a:t>...</a:t>
            </a:r>
            <a:br>
              <a:rPr lang="pt-BR" dirty="0"/>
            </a:br>
            <a:r>
              <a:rPr lang="pt-BR" dirty="0"/>
              <a:t>– Executa apenas o bloco em que a condição é verdadeira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58EFE4-24A4-ABB7-5151-FFA5D185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32" y="1458505"/>
            <a:ext cx="3145358" cy="2226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76EDA24-1EC4-82D7-1271-9E6E60CC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41FB272-709B-1897-4F6C-C74A0E02F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Decisão do tipo </a:t>
            </a:r>
            <a:r>
              <a:rPr lang="pt-BR" dirty="0" err="1"/>
              <a:t>if</a:t>
            </a:r>
            <a:r>
              <a:rPr lang="pt-BR" dirty="0"/>
              <a:t>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D31500E-663B-C715-F611-1169BFE00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1152475"/>
            <a:ext cx="3465820" cy="34164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b="1" i="1" dirty="0"/>
              <a:t>Pseudocódigo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dirty="0"/>
              <a:t>se </a:t>
            </a:r>
            <a:r>
              <a:rPr lang="pt-BR" sz="1800" b="1" dirty="0"/>
              <a:t>CONDIÇÃO</a:t>
            </a:r>
            <a:r>
              <a:rPr lang="pt-BR" sz="1800" dirty="0"/>
              <a:t> então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sz="1800" b="1" dirty="0"/>
              <a:t>INSTRUÇÃO 1</a:t>
            </a:r>
            <a:br>
              <a:rPr lang="pt-BR" sz="1800" dirty="0"/>
            </a:br>
            <a:r>
              <a:rPr lang="pt-BR" sz="1800" b="1" dirty="0"/>
              <a:t>INSTRUÇÃO 2</a:t>
            </a:r>
            <a:br>
              <a:rPr lang="pt-BR" sz="1800" dirty="0"/>
            </a:b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b="1" dirty="0"/>
              <a:t>INSTRUÇÃO 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Google Shape;55;p10">
            <a:extLst>
              <a:ext uri="{FF2B5EF4-FFF2-40B4-BE49-F238E27FC236}">
                <a16:creationId xmlns:a16="http://schemas.microsoft.com/office/drawing/2014/main" id="{9E4AE4E3-39DB-9E01-D244-1E019017AD79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371315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b="1" i="1" dirty="0"/>
              <a:t>Python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dirty="0" err="1"/>
              <a:t>if</a:t>
            </a:r>
            <a:r>
              <a:rPr lang="pt-BR" sz="1800" dirty="0"/>
              <a:t> </a:t>
            </a:r>
            <a:r>
              <a:rPr lang="pt-BR" sz="1800" b="1" dirty="0"/>
              <a:t>CONDIÇÃO: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sz="1800" b="1" dirty="0"/>
              <a:t>INSTRUÇÃO 1</a:t>
            </a:r>
            <a:br>
              <a:rPr lang="pt-BR" sz="1800" dirty="0"/>
            </a:br>
            <a:r>
              <a:rPr lang="pt-BR" sz="1800" b="1" dirty="0"/>
              <a:t>INSTRUÇÃO 2</a:t>
            </a:r>
            <a:br>
              <a:rPr lang="pt-BR" sz="1800" b="1" dirty="0"/>
            </a:br>
            <a:r>
              <a:rPr lang="pt-BR" sz="1800" dirty="0"/>
              <a:t>...</a:t>
            </a:r>
            <a:br>
              <a:rPr lang="pt-BR" sz="1800" dirty="0"/>
            </a:br>
            <a:r>
              <a:rPr lang="pt-BR" sz="1800" b="1" dirty="0"/>
              <a:t>INSTRUÇÃO N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pt-BR" sz="18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816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97DA6F4-5546-B192-C8CC-3D82B94D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8CC9BEF-EDC4-61C1-6ACC-A678FF669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Decisão do tipo </a:t>
            </a:r>
            <a:r>
              <a:rPr lang="pt-BR" dirty="0" err="1"/>
              <a:t>if</a:t>
            </a:r>
            <a:r>
              <a:rPr lang="pt-BR" dirty="0"/>
              <a:t>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7382B6C-A3F0-7CB9-3B24-9FD5619BD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Executa o bloco de instruções somente se a condição for verdadeira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A condição é uma expressão booleana que pode fazer uso de quaisquer operadores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bloco de instruções é delimitado por indentação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4230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9DF204D-2CF2-BA7A-0B76-FF534999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647FAB6-D1C7-5F87-BA4A-ADA711A3E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</a:t>
            </a:r>
            <a:r>
              <a:rPr lang="pt-BR" dirty="0" err="1"/>
              <a:t>if</a:t>
            </a:r>
            <a:r>
              <a:rPr lang="pt-BR" dirty="0"/>
              <a:t>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3BEAFDA-1DDF-4F7F-77A9-5DACF74E5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informar quando um número inteiro é par: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9EB564-5168-4AC0-7AA7-89334C3EC434}"/>
              </a:ext>
            </a:extLst>
          </p:cNvPr>
          <p:cNvSpPr/>
          <p:nvPr/>
        </p:nvSpPr>
        <p:spPr>
          <a:xfrm>
            <a:off x="509666" y="1986197"/>
            <a:ext cx="7712439" cy="125167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>
                <a:solidFill>
                  <a:schemeClr val="tx1"/>
                </a:solidFill>
              </a:rPr>
              <a:t>numero = </a:t>
            </a:r>
            <a:r>
              <a:rPr lang="pt-BR" sz="1800" dirty="0" err="1">
                <a:solidFill>
                  <a:schemeClr val="tx1"/>
                </a:solidFill>
              </a:rPr>
              <a:t>int</a:t>
            </a:r>
            <a:r>
              <a:rPr lang="pt-BR" sz="1800" dirty="0">
                <a:solidFill>
                  <a:schemeClr val="tx1"/>
                </a:solidFill>
              </a:rPr>
              <a:t>(input('Entre com um numero: '))</a:t>
            </a:r>
          </a:p>
          <a:p>
            <a:r>
              <a:rPr lang="pt-BR" sz="1800" dirty="0" err="1">
                <a:solidFill>
                  <a:schemeClr val="tx1"/>
                </a:solidFill>
              </a:rPr>
              <a:t>if</a:t>
            </a:r>
            <a:r>
              <a:rPr lang="pt-BR" sz="1800" dirty="0">
                <a:solidFill>
                  <a:schemeClr val="tx1"/>
                </a:solidFill>
              </a:rPr>
              <a:t> (numero % 2 == 0):</a:t>
            </a:r>
          </a:p>
          <a:p>
            <a:r>
              <a:rPr lang="pt-BR" sz="1800" dirty="0">
                <a:solidFill>
                  <a:schemeClr val="tx1"/>
                </a:solidFill>
              </a:rPr>
              <a:t>    print('O número é par.')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351602-E511-F58C-DE65-743367C5E5CB}"/>
              </a:ext>
            </a:extLst>
          </p:cNvPr>
          <p:cNvSpPr/>
          <p:nvPr/>
        </p:nvSpPr>
        <p:spPr>
          <a:xfrm>
            <a:off x="2915587" y="3627620"/>
            <a:ext cx="3432747" cy="74201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If</a:t>
            </a:r>
            <a:r>
              <a:rPr lang="pt-BR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 com instrução simples</a:t>
            </a:r>
          </a:p>
        </p:txBody>
      </p:sp>
    </p:spTree>
    <p:extLst>
      <p:ext uri="{BB962C8B-B14F-4D97-AF65-F5344CB8AC3E}">
        <p14:creationId xmlns:p14="http://schemas.microsoft.com/office/powerpoint/2010/main" val="197100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2FE1705-986D-A4B6-97E4-7360223D5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553243C-F9F9-63F6-00B4-A49A57007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</a:t>
            </a:r>
            <a:r>
              <a:rPr lang="pt-BR" dirty="0" err="1"/>
              <a:t>if</a:t>
            </a:r>
            <a:r>
              <a:rPr lang="pt-BR" dirty="0"/>
              <a:t>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C5D9351-23B8-A5C6-7ADD-991D5AE15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somar dois números, se o usuário desejar: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62CFA2-A9F7-A647-DE3A-8678E280CD3B}"/>
              </a:ext>
            </a:extLst>
          </p:cNvPr>
          <p:cNvSpPr/>
          <p:nvPr/>
        </p:nvSpPr>
        <p:spPr>
          <a:xfrm>
            <a:off x="509666" y="1986196"/>
            <a:ext cx="7712439" cy="214359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 err="1"/>
              <a:t>op</a:t>
            </a:r>
            <a:r>
              <a:rPr lang="pt-BR" sz="1800" dirty="0"/>
              <a:t> = input('Deseja somar? (S/N)')</a:t>
            </a:r>
          </a:p>
          <a:p>
            <a:r>
              <a:rPr lang="pt-BR" sz="1800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op</a:t>
            </a:r>
            <a:r>
              <a:rPr lang="pt-BR" sz="1800" dirty="0"/>
              <a:t> == 'S’):</a:t>
            </a:r>
          </a:p>
          <a:p>
            <a:pPr lvl="3"/>
            <a:r>
              <a:rPr lang="pt-BR" sz="1800" dirty="0"/>
              <a:t>     x = </a:t>
            </a:r>
            <a:r>
              <a:rPr lang="pt-BR" sz="1800" dirty="0" err="1"/>
              <a:t>float</a:t>
            </a:r>
            <a:r>
              <a:rPr lang="pt-BR" sz="1800" dirty="0"/>
              <a:t>(input('Digite o primeiro numero:’))</a:t>
            </a:r>
          </a:p>
          <a:p>
            <a:pPr lvl="3"/>
            <a:r>
              <a:rPr lang="pt-BR" sz="1800" dirty="0"/>
              <a:t>     y = </a:t>
            </a:r>
            <a:r>
              <a:rPr lang="pt-BR" sz="1800" dirty="0" err="1"/>
              <a:t>float</a:t>
            </a:r>
            <a:r>
              <a:rPr lang="pt-BR" sz="1800" dirty="0"/>
              <a:t>(input('Digite o segundo numero:’))</a:t>
            </a:r>
          </a:p>
          <a:p>
            <a:pPr lvl="3"/>
            <a:r>
              <a:rPr lang="pt-BR" sz="1800" dirty="0"/>
              <a:t>     resultado = x + y</a:t>
            </a:r>
          </a:p>
          <a:p>
            <a:pPr lvl="3"/>
            <a:r>
              <a:rPr lang="pt-BR" sz="1800" dirty="0"/>
              <a:t>     print('O resultado da soma é', resultado)</a:t>
            </a:r>
          </a:p>
          <a:p>
            <a:r>
              <a:rPr lang="pt-BR" sz="1800" dirty="0"/>
              <a:t>print('Até a próxima!')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FBBD085-0093-A3CD-E930-4863D19AAA4C}"/>
              </a:ext>
            </a:extLst>
          </p:cNvPr>
          <p:cNvSpPr/>
          <p:nvPr/>
        </p:nvSpPr>
        <p:spPr>
          <a:xfrm>
            <a:off x="2649511" y="4221497"/>
            <a:ext cx="3432747" cy="74201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if</a:t>
            </a:r>
            <a:r>
              <a:rPr lang="pt-BR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 com bloco de instruções</a:t>
            </a:r>
          </a:p>
        </p:txBody>
      </p:sp>
    </p:spTree>
    <p:extLst>
      <p:ext uri="{BB962C8B-B14F-4D97-AF65-F5344CB8AC3E}">
        <p14:creationId xmlns:p14="http://schemas.microsoft.com/office/powerpoint/2010/main" val="2438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FCD2B98-0958-8A31-09BE-30296EBA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3987318-EE73-D8B8-7AB7-013D1BF77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Decisão do tipo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else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C2197B0-BACD-B587-8CAB-BDAF901E5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1152475"/>
            <a:ext cx="3465820" cy="34164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rmAutofit fontScale="77500" lnSpcReduction="20000"/>
          </a:bodyPr>
          <a:lstStyle/>
          <a:p>
            <a:pPr marL="76200" indent="0">
              <a:buNone/>
            </a:pPr>
            <a:r>
              <a:rPr lang="pt-BR" b="1" dirty="0"/>
              <a:t>Pseudocódigo</a:t>
            </a:r>
          </a:p>
          <a:p>
            <a:pPr marL="76200" indent="0">
              <a:buNone/>
            </a:pPr>
            <a:r>
              <a:rPr lang="pt-BR" dirty="0"/>
              <a:t>...</a:t>
            </a:r>
          </a:p>
          <a:p>
            <a:pPr marL="76200" indent="0">
              <a:buNone/>
            </a:pPr>
            <a:r>
              <a:rPr lang="pt-BR" dirty="0"/>
              <a:t>Se </a:t>
            </a:r>
            <a:r>
              <a:rPr lang="pt-BR" b="1" dirty="0"/>
              <a:t>CONDIÇÃO</a:t>
            </a:r>
            <a:r>
              <a:rPr lang="pt-BR" dirty="0"/>
              <a:t> então</a:t>
            </a:r>
          </a:p>
          <a:p>
            <a:pPr marL="533400" lvl="1" indent="0"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None/>
            </a:pPr>
            <a:r>
              <a:rPr lang="pt-BR" dirty="0"/>
              <a:t>...</a:t>
            </a:r>
          </a:p>
          <a:p>
            <a:pPr marL="533400" lvl="1" indent="0">
              <a:buNone/>
            </a:pPr>
            <a:r>
              <a:rPr lang="pt-BR" b="1" dirty="0"/>
              <a:t>INSTRUÇÃO N</a:t>
            </a:r>
          </a:p>
          <a:p>
            <a:pPr marL="76200" indent="0">
              <a:buNone/>
            </a:pPr>
            <a:r>
              <a:rPr lang="pt-BR" dirty="0"/>
              <a:t>Senão</a:t>
            </a:r>
          </a:p>
          <a:p>
            <a:pPr marL="533400" lvl="1" indent="0"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None/>
            </a:pPr>
            <a:r>
              <a:rPr lang="pt-BR" dirty="0"/>
              <a:t>...</a:t>
            </a:r>
          </a:p>
          <a:p>
            <a:pPr marL="533400" lvl="1" indent="0">
              <a:buNone/>
            </a:pPr>
            <a:r>
              <a:rPr lang="pt-BR" b="1" dirty="0"/>
              <a:t>INSTRUÇÃO N</a:t>
            </a:r>
          </a:p>
          <a:p>
            <a:pPr marL="76200" indent="0">
              <a:buNone/>
            </a:pPr>
            <a:r>
              <a:rPr lang="pt-BR" dirty="0"/>
              <a:t>...</a:t>
            </a:r>
            <a:endParaRPr dirty="0"/>
          </a:p>
        </p:txBody>
      </p:sp>
      <p:sp>
        <p:nvSpPr>
          <p:cNvPr id="3" name="Google Shape;55;p10">
            <a:extLst>
              <a:ext uri="{FF2B5EF4-FFF2-40B4-BE49-F238E27FC236}">
                <a16:creationId xmlns:a16="http://schemas.microsoft.com/office/drawing/2014/main" id="{D7302A1E-B9E1-26D6-E68E-FF8575934124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3465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pt-BR" b="1" dirty="0"/>
              <a:t>Python</a:t>
            </a:r>
          </a:p>
          <a:p>
            <a:pPr marL="76200" indent="0">
              <a:buFont typeface="Arial"/>
              <a:buNone/>
            </a:pPr>
            <a:r>
              <a:rPr lang="pt-BR" dirty="0"/>
              <a:t>...</a:t>
            </a:r>
          </a:p>
          <a:p>
            <a:pPr marL="76200" indent="0">
              <a:buFont typeface="Arial"/>
              <a:buNone/>
            </a:pP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b="1" dirty="0"/>
              <a:t>CONDIÇÃO:</a:t>
            </a:r>
            <a:endParaRPr lang="pt-BR" dirty="0"/>
          </a:p>
          <a:p>
            <a:pPr marL="533400" lvl="1" indent="0">
              <a:buFont typeface="Arial"/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Font typeface="Arial"/>
              <a:buNone/>
            </a:pPr>
            <a:r>
              <a:rPr lang="pt-BR" dirty="0"/>
              <a:t>...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N</a:t>
            </a:r>
          </a:p>
          <a:p>
            <a:pPr marL="76200" indent="0">
              <a:buFont typeface="Arial"/>
              <a:buNone/>
            </a:pPr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Font typeface="Arial"/>
              <a:buNone/>
            </a:pPr>
            <a:r>
              <a:rPr lang="pt-BR" dirty="0"/>
              <a:t>...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N</a:t>
            </a:r>
          </a:p>
          <a:p>
            <a:pPr marL="76200" indent="0">
              <a:buFont typeface="Arial"/>
              <a:buNone/>
            </a:pPr>
            <a:r>
              <a:rPr lang="pt-B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32728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1F4F80C-2819-38F5-9B65-7A1B7B79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AF2A2C2-884E-917A-2EF0-AFF148CB6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Decisão do tipo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else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5C17752-C8A4-8AF5-EC5B-E26EA394E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Executa um ou o outro bloco de instruções em função da condição ser verdadeira ou falsa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Valem as mesmas regras para </a:t>
            </a:r>
            <a:r>
              <a:rPr lang="pt-BR" dirty="0" err="1"/>
              <a:t>if</a:t>
            </a:r>
            <a:r>
              <a:rPr lang="pt-BR" dirty="0"/>
              <a:t>...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Qualquer combinação de instrução individual ou em bloco é aceita no corpo do </a:t>
            </a:r>
            <a:r>
              <a:rPr lang="pt-BR" dirty="0" err="1"/>
              <a:t>if</a:t>
            </a:r>
            <a:r>
              <a:rPr lang="pt-BR" dirty="0"/>
              <a:t> ou do </a:t>
            </a:r>
            <a:r>
              <a:rPr lang="pt-BR" dirty="0" err="1"/>
              <a:t>else</a:t>
            </a:r>
            <a:endParaRPr lang="pt-BR" dirty="0"/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Podem ser aninhados com outras estruturas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4813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563CA17-C0F7-9A9E-2E63-4EF4CCB1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EB4A256-6584-0CC5-AB54-E9D4263F6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else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AE87A94-8609-3424-7748-56CB5A3FA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informar se um número é par ou impar:</a:t>
            </a:r>
            <a:endParaRPr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6B5E347-14C2-BD14-DEE6-912C24F62B3D}"/>
              </a:ext>
            </a:extLst>
          </p:cNvPr>
          <p:cNvSpPr/>
          <p:nvPr/>
        </p:nvSpPr>
        <p:spPr>
          <a:xfrm>
            <a:off x="509666" y="1986197"/>
            <a:ext cx="7712439" cy="1828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>
                <a:solidFill>
                  <a:schemeClr val="tx1"/>
                </a:solidFill>
              </a:rPr>
              <a:t>numero = </a:t>
            </a:r>
            <a:r>
              <a:rPr lang="pt-BR" sz="1800" dirty="0" err="1">
                <a:solidFill>
                  <a:schemeClr val="tx1"/>
                </a:solidFill>
              </a:rPr>
              <a:t>int</a:t>
            </a:r>
            <a:r>
              <a:rPr lang="pt-BR" sz="1800" dirty="0">
                <a:solidFill>
                  <a:schemeClr val="tx1"/>
                </a:solidFill>
              </a:rPr>
              <a:t>(input('Entre com um numero: '))</a:t>
            </a:r>
          </a:p>
          <a:p>
            <a:r>
              <a:rPr lang="pt-BR" sz="1800" dirty="0" err="1">
                <a:solidFill>
                  <a:schemeClr val="tx1"/>
                </a:solidFill>
              </a:rPr>
              <a:t>if</a:t>
            </a:r>
            <a:r>
              <a:rPr lang="pt-BR" sz="1800" dirty="0">
                <a:solidFill>
                  <a:schemeClr val="tx1"/>
                </a:solidFill>
              </a:rPr>
              <a:t> (numero % 2 == 0): </a:t>
            </a:r>
          </a:p>
          <a:p>
            <a:r>
              <a:rPr lang="pt-BR" sz="1800" dirty="0">
                <a:solidFill>
                  <a:schemeClr val="tx1"/>
                </a:solidFill>
              </a:rPr>
              <a:t>    print('O número é par.’)</a:t>
            </a:r>
          </a:p>
          <a:p>
            <a:r>
              <a:rPr lang="pt-BR" sz="1800" dirty="0" err="1">
                <a:solidFill>
                  <a:schemeClr val="tx1"/>
                </a:solidFill>
              </a:rPr>
              <a:t>else</a:t>
            </a:r>
            <a:r>
              <a:rPr lang="pt-BR" sz="1800" dirty="0">
                <a:solidFill>
                  <a:schemeClr val="tx1"/>
                </a:solidFill>
              </a:rPr>
              <a:t>:</a:t>
            </a:r>
          </a:p>
          <a:p>
            <a:r>
              <a:rPr lang="pt-BR" sz="1800" dirty="0">
                <a:solidFill>
                  <a:schemeClr val="tx1"/>
                </a:solidFill>
              </a:rPr>
              <a:t>    print('O número é impar.’)</a:t>
            </a:r>
          </a:p>
        </p:txBody>
      </p:sp>
    </p:spTree>
    <p:extLst>
      <p:ext uri="{BB962C8B-B14F-4D97-AF65-F5344CB8AC3E}">
        <p14:creationId xmlns:p14="http://schemas.microsoft.com/office/powerpoint/2010/main" val="344080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A120F81-CAAA-23CB-5EC4-C75075D4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DB33E33-B55A-99E0-9F1C-BEEF38C811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else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C9778C4-2BF2-16AC-FC33-87128C632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somar ou multiplicar dois números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7CDAE5E-C5C4-1DBF-75E5-1C3A27DF9353}"/>
              </a:ext>
            </a:extLst>
          </p:cNvPr>
          <p:cNvSpPr/>
          <p:nvPr/>
        </p:nvSpPr>
        <p:spPr>
          <a:xfrm>
            <a:off x="397239" y="1712085"/>
            <a:ext cx="7712439" cy="27250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 err="1"/>
              <a:t>op</a:t>
            </a:r>
            <a:r>
              <a:rPr lang="pt-BR" sz="1800" dirty="0"/>
              <a:t> = input('Deseja somar (S) ou multiplicar (M)? ‘)</a:t>
            </a:r>
          </a:p>
          <a:p>
            <a:r>
              <a:rPr lang="pt-BR" sz="1800" dirty="0"/>
              <a:t>x = </a:t>
            </a:r>
            <a:r>
              <a:rPr lang="pt-BR" sz="1800" dirty="0" err="1"/>
              <a:t>float</a:t>
            </a:r>
            <a:r>
              <a:rPr lang="pt-BR" sz="1800" dirty="0"/>
              <a:t>(input('Digite o primeiro número:'))</a:t>
            </a:r>
          </a:p>
          <a:p>
            <a:r>
              <a:rPr lang="pt-BR" sz="1800" dirty="0"/>
              <a:t>y = </a:t>
            </a:r>
            <a:r>
              <a:rPr lang="pt-BR" sz="1800" dirty="0" err="1"/>
              <a:t>float</a:t>
            </a:r>
            <a:r>
              <a:rPr lang="pt-BR" sz="1800" dirty="0"/>
              <a:t>(input('Digite o segundo número:’))</a:t>
            </a:r>
          </a:p>
          <a:p>
            <a:r>
              <a:rPr lang="pt-BR" sz="1800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op</a:t>
            </a:r>
            <a:r>
              <a:rPr lang="pt-BR" sz="1800" dirty="0"/>
              <a:t> == 'S’):</a:t>
            </a:r>
          </a:p>
          <a:p>
            <a:r>
              <a:rPr lang="pt-BR" sz="1800" dirty="0"/>
              <a:t>    r = x + y </a:t>
            </a:r>
          </a:p>
          <a:p>
            <a:r>
              <a:rPr lang="pt-BR" sz="1800" dirty="0"/>
              <a:t>    print('O resultado da soma é', r)</a:t>
            </a:r>
          </a:p>
          <a:p>
            <a:r>
              <a:rPr lang="pt-BR" sz="1800" dirty="0" err="1"/>
              <a:t>else</a:t>
            </a:r>
            <a:r>
              <a:rPr lang="pt-BR" sz="1800" dirty="0"/>
              <a:t>:</a:t>
            </a:r>
          </a:p>
          <a:p>
            <a:r>
              <a:rPr lang="pt-BR" sz="1800" dirty="0"/>
              <a:t>    r = x * y </a:t>
            </a:r>
          </a:p>
          <a:p>
            <a:r>
              <a:rPr lang="pt-BR" sz="1800" dirty="0"/>
              <a:t>    print('O resultado da multiplicação é', r)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779FA5-A058-D599-50B3-092A7A996782}"/>
              </a:ext>
            </a:extLst>
          </p:cNvPr>
          <p:cNvSpPr/>
          <p:nvPr/>
        </p:nvSpPr>
        <p:spPr>
          <a:xfrm>
            <a:off x="1851285" y="4504545"/>
            <a:ext cx="4804348" cy="5396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Problema: a </a:t>
            </a:r>
            <a:r>
              <a:rPr lang="pt-BR" dirty="0" err="1"/>
              <a:t>multiplicacao</a:t>
            </a:r>
            <a:r>
              <a:rPr lang="pt-BR" dirty="0"/>
              <a:t> </a:t>
            </a:r>
            <a:r>
              <a:rPr lang="pt-BR" dirty="0" err="1"/>
              <a:t>sera</a:t>
            </a:r>
            <a:r>
              <a:rPr lang="pt-BR" dirty="0"/>
              <a:t> realizada mesmo se o </a:t>
            </a:r>
            <a:r>
              <a:rPr lang="pt-BR" dirty="0" err="1"/>
              <a:t>usuario</a:t>
            </a:r>
            <a:r>
              <a:rPr lang="pt-BR" dirty="0"/>
              <a:t> digitar algo diferente de M</a:t>
            </a:r>
          </a:p>
        </p:txBody>
      </p:sp>
    </p:spTree>
    <p:extLst>
      <p:ext uri="{BB962C8B-B14F-4D97-AF65-F5344CB8AC3E}">
        <p14:creationId xmlns:p14="http://schemas.microsoft.com/office/powerpoint/2010/main" val="238180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325D42D-A3A1-0CEB-D15E-1B91F1DF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EF7232F-8EB4-C873-0366-E0839E3057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Decisão do tipo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elif</a:t>
            </a:r>
            <a:r>
              <a:rPr lang="pt-BR" dirty="0"/>
              <a:t>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BA6D5B0-B61C-08E0-742D-E86E8F585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1152475"/>
            <a:ext cx="3465820" cy="34164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rmAutofit fontScale="77500" lnSpcReduction="20000"/>
          </a:bodyPr>
          <a:lstStyle/>
          <a:p>
            <a:pPr marL="76200" indent="0">
              <a:buNone/>
            </a:pPr>
            <a:r>
              <a:rPr lang="pt-BR" b="1" dirty="0"/>
              <a:t>Pseudocódigo</a:t>
            </a:r>
          </a:p>
          <a:p>
            <a:pPr marL="76200" indent="0">
              <a:buNone/>
            </a:pPr>
            <a:r>
              <a:rPr lang="pt-BR" dirty="0"/>
              <a:t>...</a:t>
            </a:r>
          </a:p>
          <a:p>
            <a:pPr marL="76200" indent="0">
              <a:buNone/>
            </a:pPr>
            <a:r>
              <a:rPr lang="pt-BR" dirty="0"/>
              <a:t>Se </a:t>
            </a:r>
            <a:r>
              <a:rPr lang="pt-BR" b="1" dirty="0"/>
              <a:t>CONDIÇÃO</a:t>
            </a:r>
            <a:r>
              <a:rPr lang="pt-BR" dirty="0"/>
              <a:t> então</a:t>
            </a:r>
          </a:p>
          <a:p>
            <a:pPr marL="533400" lvl="1" indent="0"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None/>
            </a:pPr>
            <a:r>
              <a:rPr lang="pt-BR" dirty="0"/>
              <a:t>...</a:t>
            </a:r>
          </a:p>
          <a:p>
            <a:pPr marL="533400" lvl="1" indent="0">
              <a:buNone/>
            </a:pPr>
            <a:r>
              <a:rPr lang="pt-BR" b="1" dirty="0"/>
              <a:t>INSTRUÇÃO N</a:t>
            </a:r>
          </a:p>
          <a:p>
            <a:pPr marL="76200" indent="0">
              <a:buNone/>
            </a:pPr>
            <a:r>
              <a:rPr lang="pt-BR" dirty="0"/>
              <a:t>Senão Se </a:t>
            </a:r>
            <a:r>
              <a:rPr lang="pt-BR" b="1" dirty="0"/>
              <a:t>CONDIÇÃO</a:t>
            </a:r>
            <a:r>
              <a:rPr lang="pt-BR" dirty="0"/>
              <a:t> então</a:t>
            </a:r>
          </a:p>
          <a:p>
            <a:pPr marL="533400" lvl="1" indent="0"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None/>
            </a:pPr>
            <a:r>
              <a:rPr lang="pt-BR" dirty="0"/>
              <a:t>...</a:t>
            </a:r>
          </a:p>
          <a:p>
            <a:pPr marL="533400" lvl="1" indent="0">
              <a:buNone/>
            </a:pPr>
            <a:r>
              <a:rPr lang="pt-BR" b="1" dirty="0"/>
              <a:t>INSTRUÇÃO N</a:t>
            </a:r>
          </a:p>
          <a:p>
            <a:pPr marL="76200" indent="0">
              <a:buNone/>
            </a:pPr>
            <a:r>
              <a:rPr lang="pt-BR" dirty="0"/>
              <a:t>...</a:t>
            </a:r>
            <a:endParaRPr dirty="0"/>
          </a:p>
        </p:txBody>
      </p:sp>
      <p:sp>
        <p:nvSpPr>
          <p:cNvPr id="3" name="Google Shape;55;p10">
            <a:extLst>
              <a:ext uri="{FF2B5EF4-FFF2-40B4-BE49-F238E27FC236}">
                <a16:creationId xmlns:a16="http://schemas.microsoft.com/office/drawing/2014/main" id="{6062A567-206A-5276-DD38-D476EED72060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346582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3C52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pt-BR" b="1" dirty="0"/>
              <a:t>Python</a:t>
            </a:r>
          </a:p>
          <a:p>
            <a:pPr marL="76200" indent="0">
              <a:buFont typeface="Arial"/>
              <a:buNone/>
            </a:pPr>
            <a:r>
              <a:rPr lang="pt-BR" dirty="0"/>
              <a:t>...</a:t>
            </a:r>
          </a:p>
          <a:p>
            <a:pPr marL="76200" indent="0">
              <a:buFont typeface="Arial"/>
              <a:buNone/>
            </a:pP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b="1" dirty="0"/>
              <a:t>CONDIÇÃO:</a:t>
            </a:r>
            <a:endParaRPr lang="pt-BR" dirty="0"/>
          </a:p>
          <a:p>
            <a:pPr marL="533400" lvl="1" indent="0">
              <a:buFont typeface="Arial"/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Font typeface="Arial"/>
              <a:buNone/>
            </a:pPr>
            <a:r>
              <a:rPr lang="pt-BR" dirty="0"/>
              <a:t>...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N</a:t>
            </a:r>
          </a:p>
          <a:p>
            <a:pPr marL="76200" indent="0">
              <a:buNone/>
            </a:pPr>
            <a:r>
              <a:rPr lang="pt-BR" dirty="0" err="1"/>
              <a:t>elif</a:t>
            </a:r>
            <a:r>
              <a:rPr lang="pt-BR" dirty="0"/>
              <a:t> </a:t>
            </a:r>
            <a:r>
              <a:rPr lang="pt-BR" b="1" dirty="0"/>
              <a:t>CONDIÇÃO</a:t>
            </a:r>
            <a:r>
              <a:rPr lang="pt-BR" dirty="0"/>
              <a:t>: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1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2</a:t>
            </a:r>
          </a:p>
          <a:p>
            <a:pPr marL="533400" lvl="1" indent="0">
              <a:buFont typeface="Arial"/>
              <a:buNone/>
            </a:pPr>
            <a:r>
              <a:rPr lang="pt-BR" dirty="0"/>
              <a:t>...</a:t>
            </a:r>
          </a:p>
          <a:p>
            <a:pPr marL="533400" lvl="1" indent="0">
              <a:buFont typeface="Arial"/>
              <a:buNone/>
            </a:pPr>
            <a:r>
              <a:rPr lang="pt-BR" b="1" dirty="0"/>
              <a:t>INSTRUÇÃO N</a:t>
            </a:r>
          </a:p>
          <a:p>
            <a:pPr marL="76200" indent="0">
              <a:buFont typeface="Arial"/>
              <a:buNone/>
            </a:pPr>
            <a:r>
              <a:rPr lang="pt-B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672863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BF3BF63-6D8E-B87F-51B2-B6ADD878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EBE5BEF-5B40-19B8-A8E5-1C913D050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Decisão do tipo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elif</a:t>
            </a:r>
            <a:r>
              <a:rPr lang="pt-BR" dirty="0"/>
              <a:t>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1BC71D9-2C6A-8142-96AB-598E07335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653880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Executa apenas o bloco no qual a condição é verdadeira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É possível colocar tantos </a:t>
            </a:r>
            <a:r>
              <a:rPr lang="pt-BR" b="1" i="1" dirty="0" err="1"/>
              <a:t>elif</a:t>
            </a:r>
            <a:r>
              <a:rPr lang="pt-BR" dirty="0"/>
              <a:t> quantos forem necessários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Qualquer combinação de instrução individual ou em bloco é aceita no corpo do </a:t>
            </a:r>
            <a:r>
              <a:rPr lang="pt-BR" b="1" i="1" dirty="0" err="1"/>
              <a:t>if</a:t>
            </a:r>
            <a:r>
              <a:rPr lang="pt-BR" dirty="0"/>
              <a:t> ou do </a:t>
            </a:r>
            <a:r>
              <a:rPr lang="pt-BR" b="1" i="1" dirty="0" err="1"/>
              <a:t>elif</a:t>
            </a:r>
            <a:endParaRPr lang="pt-BR" b="1" i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É possível adicionar um </a:t>
            </a:r>
            <a:r>
              <a:rPr lang="pt-BR" b="1" i="1" dirty="0" err="1"/>
              <a:t>else</a:t>
            </a:r>
            <a:r>
              <a:rPr lang="pt-BR" dirty="0"/>
              <a:t> ao final de tudo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– Nesse caso, se nenhuma condição for verdadeira, o bloco do </a:t>
            </a:r>
            <a:r>
              <a:rPr lang="pt-BR" b="1" i="1" dirty="0" err="1"/>
              <a:t>else</a:t>
            </a:r>
            <a:r>
              <a:rPr lang="pt-BR" dirty="0"/>
              <a:t> será executado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63F5B52-77A7-C270-8B02-0B4B5DE9E128}"/>
              </a:ext>
            </a:extLst>
          </p:cNvPr>
          <p:cNvSpPr/>
          <p:nvPr/>
        </p:nvSpPr>
        <p:spPr>
          <a:xfrm>
            <a:off x="6850505" y="1152475"/>
            <a:ext cx="2161675" cy="371370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...</a:t>
            </a:r>
          </a:p>
          <a:p>
            <a:r>
              <a:rPr lang="pt-BR" sz="1600" dirty="0" err="1"/>
              <a:t>if</a:t>
            </a:r>
            <a:r>
              <a:rPr lang="pt-BR" sz="1600" dirty="0"/>
              <a:t> </a:t>
            </a:r>
            <a:r>
              <a:rPr lang="pt-BR" sz="1600" b="1" dirty="0"/>
              <a:t>CONDIÇÃO:</a:t>
            </a:r>
          </a:p>
          <a:p>
            <a:r>
              <a:rPr lang="pt-BR" sz="1600" b="1" dirty="0"/>
              <a:t>    INSTRUÇÃO 1</a:t>
            </a:r>
          </a:p>
          <a:p>
            <a:r>
              <a:rPr lang="pt-BR" sz="1600" b="1" dirty="0"/>
              <a:t>    ...</a:t>
            </a:r>
          </a:p>
          <a:p>
            <a:r>
              <a:rPr lang="pt-BR" sz="1600" b="1" dirty="0"/>
              <a:t>    INSTRUÇÃO N</a:t>
            </a:r>
          </a:p>
          <a:p>
            <a:r>
              <a:rPr lang="pt-BR" sz="1600" dirty="0" err="1"/>
              <a:t>elif</a:t>
            </a:r>
            <a:r>
              <a:rPr lang="pt-BR" sz="1600" dirty="0"/>
              <a:t> </a:t>
            </a:r>
            <a:r>
              <a:rPr lang="pt-BR" sz="1600" b="1" dirty="0"/>
              <a:t>CONDIÇÃO:</a:t>
            </a:r>
          </a:p>
          <a:p>
            <a:r>
              <a:rPr lang="pt-BR" sz="1600" b="1" dirty="0"/>
              <a:t>    INSTRUÇÃO 1</a:t>
            </a:r>
          </a:p>
          <a:p>
            <a:r>
              <a:rPr lang="pt-BR" sz="1600" b="1" dirty="0"/>
              <a:t>    ...</a:t>
            </a:r>
          </a:p>
          <a:p>
            <a:r>
              <a:rPr lang="pt-BR" sz="1600" b="1" dirty="0"/>
              <a:t>    INSTRUÇÃO N</a:t>
            </a:r>
          </a:p>
          <a:p>
            <a:r>
              <a:rPr lang="pt-BR" sz="1600" dirty="0" err="1"/>
              <a:t>elif</a:t>
            </a:r>
            <a:r>
              <a:rPr lang="pt-BR" sz="1600" dirty="0"/>
              <a:t> </a:t>
            </a:r>
            <a:r>
              <a:rPr lang="pt-BR" sz="1600" b="1" dirty="0"/>
              <a:t>CONDIÇÃO:</a:t>
            </a:r>
          </a:p>
          <a:p>
            <a:r>
              <a:rPr lang="pt-BR" sz="1600" b="1" dirty="0"/>
              <a:t>    INSTRUÇÃO 1</a:t>
            </a:r>
          </a:p>
          <a:p>
            <a:r>
              <a:rPr lang="pt-BR" sz="1600" b="1" dirty="0"/>
              <a:t>    ...</a:t>
            </a:r>
          </a:p>
          <a:p>
            <a:r>
              <a:rPr lang="pt-BR" sz="1600" b="1" dirty="0"/>
              <a:t>    INSTRUÇÃO N</a:t>
            </a:r>
          </a:p>
          <a:p>
            <a:r>
              <a:rPr lang="pt-BR" sz="1600" dirty="0" err="1"/>
              <a:t>else</a:t>
            </a:r>
            <a:r>
              <a:rPr lang="pt-BR" sz="1600" dirty="0"/>
              <a:t>:</a:t>
            </a:r>
          </a:p>
          <a:p>
            <a:r>
              <a:rPr lang="pt-BR" sz="16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34046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094140D-9633-6735-D655-2517E431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F17FEF9-E3C6-E649-5BCA-BB387C3DC2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else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9543B0A-1AD7-C5B8-AEA2-35FEA682A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somar ou multiplicar dois números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0D6801D-2C4B-5FE5-7205-7574CA628D12}"/>
              </a:ext>
            </a:extLst>
          </p:cNvPr>
          <p:cNvSpPr/>
          <p:nvPr/>
        </p:nvSpPr>
        <p:spPr>
          <a:xfrm>
            <a:off x="397239" y="1650275"/>
            <a:ext cx="7712439" cy="3416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 err="1"/>
              <a:t>op</a:t>
            </a:r>
            <a:r>
              <a:rPr lang="pt-BR" sz="1800" dirty="0"/>
              <a:t> = input('Deseja somar (S) ou multiplicar (M)? ‘)</a:t>
            </a:r>
          </a:p>
          <a:p>
            <a:r>
              <a:rPr lang="pt-BR" sz="1800" dirty="0"/>
              <a:t>x = </a:t>
            </a:r>
            <a:r>
              <a:rPr lang="pt-BR" sz="1800" dirty="0" err="1"/>
              <a:t>float</a:t>
            </a:r>
            <a:r>
              <a:rPr lang="pt-BR" sz="1800" dirty="0"/>
              <a:t>(input('Digite o primeiro número:'))</a:t>
            </a:r>
          </a:p>
          <a:p>
            <a:r>
              <a:rPr lang="pt-BR" sz="1800" dirty="0"/>
              <a:t>y = </a:t>
            </a:r>
            <a:r>
              <a:rPr lang="pt-BR" sz="1800" dirty="0" err="1"/>
              <a:t>float</a:t>
            </a:r>
            <a:r>
              <a:rPr lang="pt-BR" sz="1800" dirty="0"/>
              <a:t>(input('Digite o segundo número:’))</a:t>
            </a:r>
          </a:p>
          <a:p>
            <a:r>
              <a:rPr lang="pt-BR" sz="1800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op</a:t>
            </a:r>
            <a:r>
              <a:rPr lang="pt-BR" sz="1800" dirty="0"/>
              <a:t> == 'S’):</a:t>
            </a:r>
          </a:p>
          <a:p>
            <a:r>
              <a:rPr lang="pt-BR" sz="1800" dirty="0"/>
              <a:t>    r = x + y </a:t>
            </a:r>
          </a:p>
          <a:p>
            <a:r>
              <a:rPr lang="pt-BR" sz="1800" dirty="0"/>
              <a:t>    print('O resultado da soma é', r)</a:t>
            </a:r>
          </a:p>
          <a:p>
            <a:r>
              <a:rPr lang="pt-BR" sz="1800" dirty="0" err="1"/>
              <a:t>elif</a:t>
            </a:r>
            <a:r>
              <a:rPr lang="pt-BR" sz="1800" dirty="0"/>
              <a:t> (</a:t>
            </a:r>
            <a:r>
              <a:rPr lang="pt-BR" sz="1800" dirty="0" err="1"/>
              <a:t>op</a:t>
            </a:r>
            <a:r>
              <a:rPr lang="pt-BR" sz="1800" dirty="0"/>
              <a:t>== ‘M’):</a:t>
            </a:r>
          </a:p>
          <a:p>
            <a:r>
              <a:rPr lang="pt-BR" sz="1800" dirty="0"/>
              <a:t>    r = x * y </a:t>
            </a:r>
          </a:p>
          <a:p>
            <a:r>
              <a:rPr lang="pt-BR" sz="1800" dirty="0"/>
              <a:t>    print('O resultado da multiplicação é', r)</a:t>
            </a:r>
          </a:p>
          <a:p>
            <a:r>
              <a:rPr lang="pt-BR" sz="1800" dirty="0" err="1">
                <a:solidFill>
                  <a:schemeClr val="tx1"/>
                </a:solidFill>
              </a:rPr>
              <a:t>else</a:t>
            </a:r>
            <a:r>
              <a:rPr lang="pt-BR" sz="1800" dirty="0">
                <a:solidFill>
                  <a:schemeClr val="tx1"/>
                </a:solidFill>
              </a:rPr>
              <a:t>: </a:t>
            </a:r>
          </a:p>
          <a:p>
            <a:r>
              <a:rPr lang="pt-BR" sz="1800" dirty="0">
                <a:solidFill>
                  <a:schemeClr val="tx1"/>
                </a:solidFill>
              </a:rPr>
              <a:t>    </a:t>
            </a:r>
            <a:r>
              <a:rPr lang="pt-BR" sz="1800" dirty="0"/>
              <a:t>print('Opção inválida!')</a:t>
            </a:r>
            <a:endParaRPr lang="pt-BR" sz="1800" dirty="0">
              <a:solidFill>
                <a:schemeClr val="tx1"/>
              </a:solidFill>
            </a:endParaRPr>
          </a:p>
          <a:p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17065B-2668-0F7C-1545-1D5F489534ED}"/>
              </a:ext>
            </a:extLst>
          </p:cNvPr>
          <p:cNvSpPr/>
          <p:nvPr/>
        </p:nvSpPr>
        <p:spPr>
          <a:xfrm>
            <a:off x="5670030" y="4215150"/>
            <a:ext cx="2349054" cy="7074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Problema: x e y </a:t>
            </a:r>
            <a:r>
              <a:rPr lang="pt-BR" dirty="0" err="1"/>
              <a:t>serao</a:t>
            </a:r>
            <a:r>
              <a:rPr lang="pt-BR" dirty="0"/>
              <a:t> lidos mesmo se a </a:t>
            </a:r>
            <a:r>
              <a:rPr lang="pt-BR" dirty="0" err="1"/>
              <a:t>opcao</a:t>
            </a:r>
            <a:r>
              <a:rPr lang="pt-BR" dirty="0"/>
              <a:t> for invalida</a:t>
            </a:r>
          </a:p>
        </p:txBody>
      </p:sp>
    </p:spTree>
    <p:extLst>
      <p:ext uri="{BB962C8B-B14F-4D97-AF65-F5344CB8AC3E}">
        <p14:creationId xmlns:p14="http://schemas.microsoft.com/office/powerpoint/2010/main" val="4258903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5D35E3E-F5A8-7858-7980-B068D6C4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76D23EE-73AC-4D90-4AC9-9D9EF07C57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</a:t>
            </a:r>
            <a:r>
              <a:rPr lang="pt-BR" dirty="0" err="1"/>
              <a:t>if</a:t>
            </a:r>
            <a:r>
              <a:rPr lang="pt-BR" dirty="0"/>
              <a:t>... </a:t>
            </a:r>
            <a:r>
              <a:rPr lang="pt-BR" dirty="0" err="1"/>
              <a:t>else</a:t>
            </a:r>
            <a:r>
              <a:rPr lang="pt-BR" dirty="0"/>
              <a:t> aninhado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7B4CF09-EC48-F81B-59BF-48B3E07C7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Programa para somar ou multiplicar dois números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ADDFF8F-D279-F526-4FD4-1B2F61599E2C}"/>
              </a:ext>
            </a:extLst>
          </p:cNvPr>
          <p:cNvSpPr/>
          <p:nvPr/>
        </p:nvSpPr>
        <p:spPr>
          <a:xfrm>
            <a:off x="397239" y="1650275"/>
            <a:ext cx="7712439" cy="33114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800" dirty="0" err="1"/>
              <a:t>Op</a:t>
            </a:r>
            <a:r>
              <a:rPr lang="pt-BR" sz="1800" dirty="0"/>
              <a:t> = input('Deseja somar (S) ou multiplicar (M)? ‘)</a:t>
            </a:r>
          </a:p>
          <a:p>
            <a:r>
              <a:rPr lang="pt-BR" sz="1800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op</a:t>
            </a:r>
            <a:r>
              <a:rPr lang="pt-BR" sz="1800" dirty="0"/>
              <a:t> == 'S' </a:t>
            </a:r>
            <a:r>
              <a:rPr lang="pt-BR" sz="1800" dirty="0" err="1"/>
              <a:t>or</a:t>
            </a:r>
            <a:r>
              <a:rPr lang="pt-BR" sz="1800" dirty="0"/>
              <a:t> </a:t>
            </a:r>
            <a:r>
              <a:rPr lang="pt-BR" sz="1800" dirty="0" err="1"/>
              <a:t>op</a:t>
            </a:r>
            <a:r>
              <a:rPr lang="pt-BR" sz="1800" dirty="0"/>
              <a:t> == 'M'):</a:t>
            </a:r>
          </a:p>
          <a:p>
            <a:r>
              <a:rPr lang="pt-BR" sz="1800" dirty="0"/>
              <a:t>    x = </a:t>
            </a:r>
            <a:r>
              <a:rPr lang="pt-BR" sz="1800" dirty="0" err="1"/>
              <a:t>float</a:t>
            </a:r>
            <a:r>
              <a:rPr lang="pt-BR" sz="1800" dirty="0"/>
              <a:t>(input('Digite o primeiro número:'))</a:t>
            </a:r>
          </a:p>
          <a:p>
            <a:r>
              <a:rPr lang="pt-BR" sz="1800" dirty="0"/>
              <a:t>    y = </a:t>
            </a:r>
            <a:r>
              <a:rPr lang="pt-BR" sz="1800" dirty="0" err="1"/>
              <a:t>float</a:t>
            </a:r>
            <a:r>
              <a:rPr lang="pt-BR" sz="1800" dirty="0"/>
              <a:t>(input('Digite o segundo número:’))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if</a:t>
            </a:r>
            <a:r>
              <a:rPr lang="pt-BR" sz="1800" dirty="0"/>
              <a:t> (</a:t>
            </a:r>
            <a:r>
              <a:rPr lang="pt-BR" sz="1800" dirty="0" err="1"/>
              <a:t>op</a:t>
            </a:r>
            <a:r>
              <a:rPr lang="pt-BR" sz="1800" dirty="0"/>
              <a:t> == ‘S’):</a:t>
            </a:r>
          </a:p>
          <a:p>
            <a:r>
              <a:rPr lang="pt-BR" sz="1800" dirty="0"/>
              <a:t>        r = x + y </a:t>
            </a:r>
          </a:p>
          <a:p>
            <a:r>
              <a:rPr lang="pt-BR" sz="1800" dirty="0"/>
              <a:t>    </a:t>
            </a:r>
            <a:r>
              <a:rPr lang="pt-BR" sz="1800" dirty="0" err="1"/>
              <a:t>else</a:t>
            </a:r>
            <a:r>
              <a:rPr lang="pt-BR" sz="1800" dirty="0"/>
              <a:t>:</a:t>
            </a:r>
          </a:p>
          <a:p>
            <a:r>
              <a:rPr lang="pt-BR" sz="1800" dirty="0"/>
              <a:t>        r = x * y </a:t>
            </a:r>
          </a:p>
          <a:p>
            <a:r>
              <a:rPr lang="pt-BR" sz="1800" dirty="0"/>
              <a:t>    print('O resultado é ', r)</a:t>
            </a:r>
          </a:p>
          <a:p>
            <a:r>
              <a:rPr lang="pt-BR" sz="1800" dirty="0" err="1">
                <a:solidFill>
                  <a:schemeClr val="tx1"/>
                </a:solidFill>
              </a:rPr>
              <a:t>else</a:t>
            </a:r>
            <a:r>
              <a:rPr lang="pt-BR" sz="1800" dirty="0">
                <a:solidFill>
                  <a:schemeClr val="tx1"/>
                </a:solidFill>
              </a:rPr>
              <a:t>: </a:t>
            </a:r>
          </a:p>
          <a:p>
            <a:r>
              <a:rPr lang="pt-BR" sz="1800" dirty="0">
                <a:solidFill>
                  <a:schemeClr val="tx1"/>
                </a:solidFill>
              </a:rPr>
              <a:t>        </a:t>
            </a:r>
            <a:r>
              <a:rPr lang="pt-BR" sz="1800" dirty="0"/>
              <a:t>print('Opção inválida!')')</a:t>
            </a: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4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FED1383-27EC-A5ED-F421-0D9328DE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82AE67C-2AF2-E99E-3816-8471D97085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Exercício: Classificação de Atleta por Idade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CF3AA0F-5EC8-F6ED-6334-1EC4FF617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6049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b="1" dirty="0"/>
              <a:t>Objetivo</a:t>
            </a:r>
            <a:r>
              <a:rPr lang="pt-BR" sz="1800" dirty="0"/>
              <a:t>: Agrupar dados em múltiplas categorias. Este é um exemplo perfeito para mostrar que, assim que uma condição é verdadeira, o Python ignora as demais.</a:t>
            </a:r>
            <a:endParaRPr sz="18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A3A436C-AB2C-6DEB-813F-8E8B41AE75B3}"/>
              </a:ext>
            </a:extLst>
          </p:cNvPr>
          <p:cNvSpPr/>
          <p:nvPr/>
        </p:nvSpPr>
        <p:spPr>
          <a:xfrm>
            <a:off x="4590083" y="1152475"/>
            <a:ext cx="3751943" cy="33114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>
                <a:solidFill>
                  <a:schemeClr val="tx1"/>
                </a:solidFill>
              </a:rPr>
              <a:t>Início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Leia IDADE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 IDADE &lt; 5 então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"Muito jovem“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Senão se IDADE &lt;= 7 então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"Infantil A"   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Senão se IDADE &lt;= 11 então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"Infantil B"    </a:t>
            </a:r>
            <a:br>
              <a:rPr lang="pt-BR" sz="1600" dirty="0">
                <a:solidFill>
                  <a:schemeClr val="tx1"/>
                </a:solidFill>
              </a:rPr>
            </a:br>
            <a:r>
              <a:rPr lang="pt-BR" sz="1600" dirty="0">
                <a:solidFill>
                  <a:schemeClr val="tx1"/>
                </a:solidFill>
              </a:rPr>
              <a:t>    Senão se IDADE &lt;= 17 então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"Juvenil"   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Senão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"Adulto“</a:t>
            </a:r>
          </a:p>
          <a:p>
            <a:r>
              <a:rPr lang="pt-BR" sz="1600" dirty="0">
                <a:solidFill>
                  <a:schemeClr val="tx1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560484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BAA0BCB-DD7E-5432-2D3E-7AD1333B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F58ACC4-328E-839A-B447-E57224231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Exercício: Classificação de Atleta por Idade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D440F8F-97E0-87B6-5074-B4ED3E275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279126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sz="1800" b="1" dirty="0"/>
              <a:t>Objetivo</a:t>
            </a:r>
            <a:r>
              <a:rPr lang="pt-BR" sz="1800" dirty="0"/>
              <a:t>: Monitorar sensores e emitir alertas baseados em faixas de valores. Este exemplo simula um sistema de monitoramento de IoT.</a:t>
            </a:r>
            <a:endParaRPr sz="18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326949-42F5-419A-4A3D-9D9C7507E6DD}"/>
              </a:ext>
            </a:extLst>
          </p:cNvPr>
          <p:cNvSpPr/>
          <p:nvPr/>
        </p:nvSpPr>
        <p:spPr>
          <a:xfrm>
            <a:off x="3522689" y="1152475"/>
            <a:ext cx="5463914" cy="33114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>
                <a:solidFill>
                  <a:schemeClr val="tx1"/>
                </a:solidFill>
              </a:rPr>
              <a:t>Início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Leia PORCENTAGEM_AGUA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 PORCENTAGEM_AGUA &gt;= 90 então 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"ALERTA: Nível Crítico (Transbordamento)!"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Senão se PORCENTAGEM_AGUA &gt;= 50 então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"Nível Adequado."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Senão se PORCENTAGEM_AGUA &gt;= 20 então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"Nível Baixo (Atenção)."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Senão</a:t>
            </a:r>
          </a:p>
          <a:p>
            <a:r>
              <a:rPr lang="pt-BR" sz="1600" dirty="0">
                <a:solidFill>
                  <a:schemeClr val="tx1"/>
                </a:solidFill>
              </a:rPr>
              <a:t>        Escreva "ALERTA: Reservatório Vazio!"</a:t>
            </a:r>
          </a:p>
          <a:p>
            <a:r>
              <a:rPr lang="pt-BR" sz="1600" dirty="0">
                <a:solidFill>
                  <a:schemeClr val="tx1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90258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51924DA-2865-ED60-A405-F7175034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4164041-4DB2-8C80-FEDC-D96C646A0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0A42C05-A8F8-6D4D-9EC4-676BF90AF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Faça um programa que calcule o IMC de uma pessoa (IMC = massa em kg / altura em metros elevado ao quadrado) e informe a sua classificação segundo a tabela a seguir, obtida na Wikipédia</a:t>
            </a:r>
            <a:endParaRPr sz="1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7F0120-6192-47F7-2BAD-8EBC7E7D6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645" y="2315065"/>
            <a:ext cx="5285584" cy="225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24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D748049-3F0F-7D98-47C8-D5896B3D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3EC1F81-C928-F443-C530-A7198A7D7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Referências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5B27687-8961-52EF-DB3D-9DFA90F08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Tutorial Python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– https://docs.python.org/ptbr/3/tutorial/controlflow.html#if-statements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Slides feitos em conjunto com Aline Paes e Vanessa </a:t>
            </a:r>
            <a:r>
              <a:rPr lang="pt-BR" dirty="0" err="1"/>
              <a:t>Braganholo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Slide: Leonardo Murta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80195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1178</Words>
  <Application>Microsoft Office PowerPoint</Application>
  <PresentationFormat>Apresentação na tela (16:9)</PresentationFormat>
  <Paragraphs>195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Impact</vt:lpstr>
      <vt:lpstr>JetBrains Mono ExtraBold</vt:lpstr>
      <vt:lpstr>Simple Light</vt:lpstr>
      <vt:lpstr>Estruturas de Decisão</vt:lpstr>
      <vt:lpstr>Aula de hoje</vt:lpstr>
      <vt:lpstr>Decisão do tipo if...</vt:lpstr>
      <vt:lpstr>Decisão do tipo if...</vt:lpstr>
      <vt:lpstr>Exemplo de if...</vt:lpstr>
      <vt:lpstr>Exemplo de if...</vt:lpstr>
      <vt:lpstr>Decisão do tipo if... else</vt:lpstr>
      <vt:lpstr>Decisão do tipo if... else</vt:lpstr>
      <vt:lpstr>Exemplo de if... else</vt:lpstr>
      <vt:lpstr>Exemplo de if... else</vt:lpstr>
      <vt:lpstr>Decisão do tipo if... elif...</vt:lpstr>
      <vt:lpstr>Decisão do tipo if... elif...</vt:lpstr>
      <vt:lpstr>Exemplo de if... else</vt:lpstr>
      <vt:lpstr>Exemplo de if... else aninhado</vt:lpstr>
      <vt:lpstr>Exercício: Classificação de Atleta por Idade</vt:lpstr>
      <vt:lpstr>Exercício: Classificação de Atleta por Idade</vt:lpstr>
      <vt:lpstr>Exercícios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6</cp:revision>
  <dcterms:modified xsi:type="dcterms:W3CDTF">2026-03-09T19:46:08Z</dcterms:modified>
</cp:coreProperties>
</file>